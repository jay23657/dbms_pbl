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7036c06-82a4-80c4-daf8-1fc6a11ecfdc}">
          <p14:sldIdLst>
            <p14:sldId id="256"/>
            <p14:sldId id="257"/>
          </p14:sldIdLst>
        </p14:section>
        <p14:section name="Normalization" id="{21e9c050-97ad-fd4a-bb06-dd38d9cc851c}">
          <p14:sldIdLst>
            <p14:sldId id="258"/>
            <p14:sldId id="259"/>
            <p14:sldId id="260"/>
          </p14:sldIdLst>
        </p14:section>
        <p14:section name="Schema &amp; Dictionary" id="{0f56c406-a40d-58e9-ee07-41bcf8eea8f3}">
          <p14:sldIdLst>
            <p14:sldId id="261"/>
            <p14:sldId id="262"/>
            <p14:sldId id="263"/>
          </p14:sldIdLst>
        </p14:section>
        <p14:section name="Constraints" id="{9dec28b1-b6f9-e938-af44-95ce22507ed8}">
          <p14:sldIdLst>
            <p14:sldId id="264"/>
            <p14:sldId id="265"/>
            <p14:sldId id="266"/>
          </p14:sldIdLst>
        </p14:section>
        <p14:section name="Data &amp; Queries" id="{1c123195-4cbe-253c-fa0f-d84df0a7f329}">
          <p14:sldIdLst>
            <p14:sldId id="267"/>
            <p14:sldId id="268"/>
            <p14:sldId id="269"/>
            <p14:sldId id="270"/>
            <p14:sldId id="271"/>
          </p14:sldIdLst>
        </p14:section>
        <p14:section name="Progress" id="{58d7681f-1742-2f9d-60f8-308a4ec1a7f2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C1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1C1E"/>
                </a:solidFill>
                <a:latin typeface="+mn-lt"/>
              </a:rPr>
              <a:t>Sample rows per table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C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status_history</c:v>
                  </c:pt>
                  <c:pt idx="1">
                    <c:v>custody_log</c:v>
                  </c:pt>
                  <c:pt idx="2">
                    <c:v>person</c:v>
                  </c:pt>
                  <c:pt idx="3">
                    <c:v>assignment</c:v>
                  </c:pt>
                  <c:pt idx="4">
                    <c:v>officer</c:v>
                  </c:pt>
                  <c:pt idx="5">
                    <c:v>complaint</c:v>
                  </c:pt>
                  <c:pt idx="6">
                    <c:v>investigation_activity</c:v>
                  </c:pt>
                  <c:pt idx="7">
                    <c:v>evidence_item</c:v>
                  </c:pt>
                  <c:pt idx="8">
                    <c:v>law_section</c:v>
                  </c:pt>
                  <c:pt idx="9">
                    <c:v>witness</c:v>
                  </c:pt>
                  <c:pt idx="10">
                    <c:v>charge</c:v>
                  </c:pt>
                  <c:pt idx="11">
                    <c:v>court_reference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1C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1C1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state that Review 2 covers the normalized design, the DDL with integrity constraints, sample data with SQL, and the working database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recap Review 1, then walk through the four deliverables of Review 2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each normal form removes one specific anomaly. The key example is LAW_SECTION, the new table created in 3NF.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relation: the determinant is always a key, so there are no partial or transitive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CHARGE is the relation that changed in 3NF: section_title was moved out into LAW_SECTION.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Compared with Review 1, the only structural change is the new LAW_SECTION table, highlighted in gold.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COMPLAINT carries two of the five business rules: valid case status and closure details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CUSTODY_LOG stores one row per custody period. The exclusion constraint on it is what prevents overlapping custody.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rule is enforced by the database itself, so no application bug can store inconsistent data. The next slides show the DDL and the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COMPLAINT with the status and closure checks. Right: CUSTODY_LOG with the exclusion constraint that blocks overlapping custody. btree_gist is needed for the equality part of the exclusion.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actual error messages PostgreSQL returned when running 04_constraint_tests.sql.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56 rows in total. The five complaints cover all four case statuses so every report has something to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joins COMPLAINT with PERSON and computes days open. Q2 uses a LEFT JOIN so officers with no active cases still appear with a count of zero. days_open is as of 10 Oct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view finds the open custody row (custody_end IS NULL) for each item, which is its current location. Q4 self-joins OFFICER twice to show both ends of each transfer.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UNION ALL merges status changes, investigation activities and evidence collection into one timeline per complaint.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uses a nested IN subquery to restrict witnesses to complaints that are not closed. Q6 reports who closed each case and the days taken.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the left is already running in PostgreSQL. The demo steps on the right can be run live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that the database layer is complete and tested, then outline the Review 3 plan for Week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Complaint &amp; Evidence Tracking System  |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circle-1"/>
          <p:cNvSpPr/>
          <p:nvPr/>
        </p:nvSpPr>
        <p:spPr>
          <a:xfrm>
            <a:off x="9326880" y="-1188720"/>
            <a:ext cx="4206240" cy="42062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" name="deco-circle-2"/>
          <p:cNvSpPr/>
          <p:nvPr/>
        </p:nvSpPr>
        <p:spPr>
          <a:xfrm>
            <a:off x="10607040" y="4572000"/>
            <a:ext cx="3108960" cy="3108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badge"/>
          <p:cNvSpPr/>
          <p:nvPr/>
        </p:nvSpPr>
        <p:spPr>
          <a:xfrm>
            <a:off x="822960" y="10972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badge-text"/>
          <p:cNvSpPr txBox="1"/>
          <p:nvPr/>
        </p:nvSpPr>
        <p:spPr>
          <a:xfrm>
            <a:off x="82296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2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822960" y="20116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POLICE COMPLAINT &amp; EVIDENCE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SYSTEM</a:t>
            </a:r>
            <a:endParaRPr lang="en-US" sz="4000" dirty="0"/>
          </a:p>
        </p:txBody>
      </p:sp>
      <p:sp>
        <p:nvSpPr>
          <p:cNvPr id="7" name="subtitle"/>
          <p:cNvSpPr txBox="1"/>
          <p:nvPr/>
        </p:nvSpPr>
        <p:spPr>
          <a:xfrm>
            <a:off x="822960" y="3566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Relational Database Management System</a:t>
            </a:r>
            <a:endParaRPr lang="en-US" sz="1800" dirty="0"/>
          </a:p>
        </p:txBody>
      </p:sp>
      <p:sp>
        <p:nvSpPr>
          <p:cNvPr id="8" name="review-line"/>
          <p:cNvSpPr txBox="1"/>
          <p:nvPr/>
        </p:nvSpPr>
        <p:spPr>
          <a:xfrm>
            <a:off x="82296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|  Normalization, DDL Constraints, Sample Data &amp; SQL Queries</a:t>
            </a:r>
            <a:endParaRPr lang="en-US" sz="1600" dirty="0"/>
          </a:p>
        </p:txBody>
      </p:sp>
      <p:sp>
        <p:nvSpPr>
          <p:cNvPr id="9" name="student-info"/>
          <p:cNvSpPr txBox="1"/>
          <p:nvPr/>
        </p:nvSpPr>
        <p:spPr>
          <a:xfrm>
            <a:off x="822960" y="5669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G.J. Chandrasekhar Reddy     Roll. No: 25WU0102084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AIML Rhinos  |  Week 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 Recap &amp; Review 2 Scope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completed, and what this review delivers</a:t>
            </a:r>
            <a:endParaRPr lang="en-US" sz="1400" dirty="0"/>
          </a:p>
        </p:txBody>
      </p:sp>
      <p:sp>
        <p:nvSpPr>
          <p:cNvPr id="5" name="recap-card"/>
          <p:cNvSpPr/>
          <p:nvPr/>
        </p:nvSpPr>
        <p:spPr>
          <a:xfrm>
            <a:off x="457200" y="1463040"/>
            <a:ext cx="4937760" cy="4663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recap-title"/>
          <p:cNvSpPr txBox="1"/>
          <p:nvPr/>
        </p:nvSpPr>
        <p:spPr>
          <a:xfrm>
            <a:off x="73152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 in Review 1</a:t>
            </a:r>
            <a:endParaRPr lang="en-US" sz="2000" dirty="0"/>
          </a:p>
        </p:txBody>
      </p:sp>
      <p:sp>
        <p:nvSpPr>
          <p:cNvPr id="7" name="recap-list"/>
          <p:cNvSpPr txBox="1"/>
          <p:nvPr/>
        </p:nvSpPr>
        <p:spPr>
          <a:xfrm>
            <a:off x="731520" y="219456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scope and objectives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user roles and 9 functional requirements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non-functional requirements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with 11 entities and cardinalities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relational schema with PKs and FKs</a:t>
            </a:r>
            <a:endParaRPr lang="en-US" sz="1600" dirty="0"/>
          </a:p>
        </p:txBody>
      </p:sp>
      <p:sp>
        <p:nvSpPr>
          <p:cNvPr id="8" name="db-chip"/>
          <p:cNvSpPr/>
          <p:nvPr/>
        </p:nvSpPr>
        <p:spPr>
          <a:xfrm>
            <a:off x="731520" y="5120640"/>
            <a:ext cx="26517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9" name="db-chip-text"/>
          <p:cNvSpPr txBox="1"/>
          <p:nvPr/>
        </p:nvSpPr>
        <p:spPr>
          <a:xfrm>
            <a:off x="731520" y="5120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Database: PostgreSQL 16</a:t>
            </a:r>
            <a:endParaRPr lang="en-US" sz="1400" dirty="0"/>
          </a:p>
        </p:txBody>
      </p:sp>
      <p:sp>
        <p:nvSpPr>
          <p:cNvPr id="10" name="scope-card"/>
          <p:cNvSpPr/>
          <p:nvPr/>
        </p:nvSpPr>
        <p:spPr>
          <a:xfrm>
            <a:off x="5669280" y="1463040"/>
            <a:ext cx="6062472" cy="4663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1" name="scope-title"/>
          <p:cNvSpPr txBox="1"/>
          <p:nvPr/>
        </p:nvSpPr>
        <p:spPr>
          <a:xfrm>
            <a:off x="598932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in Review 2</a:t>
            </a:r>
            <a:endParaRPr lang="en-US" sz="2000" dirty="0"/>
          </a:p>
        </p:txBody>
      </p:sp>
      <p:sp>
        <p:nvSpPr>
          <p:cNvPr id="12" name="num-1"/>
          <p:cNvSpPr/>
          <p:nvPr/>
        </p:nvSpPr>
        <p:spPr>
          <a:xfrm>
            <a:off x="598932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um-text-1"/>
          <p:cNvSpPr txBox="1"/>
          <p:nvPr/>
        </p:nvSpPr>
        <p:spPr>
          <a:xfrm>
            <a:off x="59893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item-title-1"/>
          <p:cNvSpPr txBox="1"/>
          <p:nvPr/>
        </p:nvSpPr>
        <p:spPr>
          <a:xfrm>
            <a:off x="6675120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design to 3NF</a:t>
            </a:r>
            <a:endParaRPr lang="en-US" sz="1800" dirty="0"/>
          </a:p>
        </p:txBody>
      </p:sp>
      <p:sp>
        <p:nvSpPr>
          <p:cNvPr id="15" name="item-sub-1"/>
          <p:cNvSpPr txBox="1"/>
          <p:nvPr/>
        </p:nvSpPr>
        <p:spPr>
          <a:xfrm>
            <a:off x="6675120" y="2633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dependencies and data dictionary</a:t>
            </a:r>
            <a:endParaRPr lang="en-US" sz="1400" dirty="0"/>
          </a:p>
        </p:txBody>
      </p:sp>
      <p:sp>
        <p:nvSpPr>
          <p:cNvPr id="16" name="num-2"/>
          <p:cNvSpPr/>
          <p:nvPr/>
        </p:nvSpPr>
        <p:spPr>
          <a:xfrm>
            <a:off x="5989320" y="3291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num-text-2"/>
          <p:cNvSpPr txBox="1"/>
          <p:nvPr/>
        </p:nvSpPr>
        <p:spPr>
          <a:xfrm>
            <a:off x="59893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item-title-2"/>
          <p:cNvSpPr txBox="1"/>
          <p:nvPr/>
        </p:nvSpPr>
        <p:spPr>
          <a:xfrm>
            <a:off x="667512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with integrity constraints</a:t>
            </a:r>
            <a:endParaRPr lang="en-US" sz="1800" dirty="0"/>
          </a:p>
        </p:txBody>
      </p:sp>
      <p:sp>
        <p:nvSpPr>
          <p:cNvPr id="19" name="item-sub-2"/>
          <p:cNvSpPr txBox="1"/>
          <p:nvPr/>
        </p:nvSpPr>
        <p:spPr>
          <a:xfrm>
            <a:off x="6675120" y="3593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business rules enforced by the database</a:t>
            </a:r>
            <a:endParaRPr lang="en-US" sz="1400" dirty="0"/>
          </a:p>
        </p:txBody>
      </p:sp>
      <p:sp>
        <p:nvSpPr>
          <p:cNvPr id="20" name="num-3"/>
          <p:cNvSpPr/>
          <p:nvPr/>
        </p:nvSpPr>
        <p:spPr>
          <a:xfrm>
            <a:off x="5989320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um-text-3"/>
          <p:cNvSpPr txBox="1"/>
          <p:nvPr/>
        </p:nvSpPr>
        <p:spPr>
          <a:xfrm>
            <a:off x="59893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item-title-3"/>
          <p:cNvSpPr txBox="1"/>
          <p:nvPr/>
        </p:nvSpPr>
        <p:spPr>
          <a:xfrm>
            <a:off x="667512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and SQL</a:t>
            </a:r>
            <a:endParaRPr lang="en-US" sz="1800" dirty="0"/>
          </a:p>
        </p:txBody>
      </p:sp>
      <p:sp>
        <p:nvSpPr>
          <p:cNvPr id="23" name="item-sub-3"/>
          <p:cNvSpPr txBox="1"/>
          <p:nvPr/>
        </p:nvSpPr>
        <p:spPr>
          <a:xfrm>
            <a:off x="6675120" y="4553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subqueries, aggregation and views</a:t>
            </a:r>
            <a:endParaRPr lang="en-US" sz="1400" dirty="0"/>
          </a:p>
        </p:txBody>
      </p:sp>
      <p:sp>
        <p:nvSpPr>
          <p:cNvPr id="24" name="num-4"/>
          <p:cNvSpPr/>
          <p:nvPr/>
        </p:nvSpPr>
        <p:spPr>
          <a:xfrm>
            <a:off x="5989320" y="5212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num-text-4"/>
          <p:cNvSpPr txBox="1"/>
          <p:nvPr/>
        </p:nvSpPr>
        <p:spPr>
          <a:xfrm>
            <a:off x="598932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item-title-4"/>
          <p:cNvSpPr txBox="1"/>
          <p:nvPr/>
        </p:nvSpPr>
        <p:spPr>
          <a:xfrm>
            <a:off x="6675120" y="5166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progress</a:t>
            </a:r>
            <a:endParaRPr lang="en-US" sz="1800" dirty="0"/>
          </a:p>
        </p:txBody>
      </p:sp>
      <p:sp>
        <p:nvSpPr>
          <p:cNvPr id="27" name="item-sub-4"/>
          <p:cNvSpPr txBox="1"/>
          <p:nvPr/>
        </p:nvSpPr>
        <p:spPr>
          <a:xfrm>
            <a:off x="6675120" y="5513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demonstration and constraint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Process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paper register to Third Normal Form</a:t>
            </a:r>
            <a:endParaRPr lang="en-US" sz="1400" dirty="0"/>
          </a:p>
        </p:txBody>
      </p:sp>
      <p:sp>
        <p:nvSpPr>
          <p:cNvPr id="5" name="step-card-1"/>
          <p:cNvSpPr/>
          <p:nvPr/>
        </p:nvSpPr>
        <p:spPr>
          <a:xfrm>
            <a:off x="457200" y="1508760"/>
            <a:ext cx="26060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tep-label-1"/>
          <p:cNvSpPr txBox="1"/>
          <p:nvPr/>
        </p:nvSpPr>
        <p:spPr>
          <a:xfrm>
            <a:off x="68580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</a:t>
            </a:r>
            <a:endParaRPr lang="en-US" sz="3600" dirty="0"/>
          </a:p>
        </p:txBody>
      </p:sp>
      <p:sp>
        <p:nvSpPr>
          <p:cNvPr id="7" name="step-title-1"/>
          <p:cNvSpPr txBox="1"/>
          <p:nvPr/>
        </p:nvSpPr>
        <p:spPr>
          <a:xfrm>
            <a:off x="685800" y="2423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 row</a:t>
            </a:r>
            <a:endParaRPr lang="en-US" sz="1800" dirty="0"/>
          </a:p>
        </p:txBody>
      </p:sp>
      <p:sp>
        <p:nvSpPr>
          <p:cNvPr id="8" name="step-body-1"/>
          <p:cNvSpPr txBox="1"/>
          <p:nvPr/>
        </p:nvSpPr>
        <p:spPr>
          <a:xfrm>
            <a:off x="685800" y="31546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holds the complaint, complainant, several officers and several evidence items in single cells.</a:t>
            </a:r>
            <a:endParaRPr lang="en-US" sz="1400" dirty="0"/>
          </a:p>
        </p:txBody>
      </p:sp>
      <p:sp>
        <p:nvSpPr>
          <p:cNvPr id="9" name="arrow-1"/>
          <p:cNvSpPr txBox="1"/>
          <p:nvPr/>
        </p:nvSpPr>
        <p:spPr>
          <a:xfrm>
            <a:off x="306324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tep-card-2"/>
          <p:cNvSpPr/>
          <p:nvPr/>
        </p:nvSpPr>
        <p:spPr>
          <a:xfrm>
            <a:off x="3337560" y="1508760"/>
            <a:ext cx="26060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tep-label-2"/>
          <p:cNvSpPr txBox="1"/>
          <p:nvPr/>
        </p:nvSpPr>
        <p:spPr>
          <a:xfrm>
            <a:off x="356616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3600" dirty="0"/>
          </a:p>
        </p:txBody>
      </p:sp>
      <p:sp>
        <p:nvSpPr>
          <p:cNvPr id="12" name="step-title-2"/>
          <p:cNvSpPr txBox="1"/>
          <p:nvPr/>
        </p:nvSpPr>
        <p:spPr>
          <a:xfrm>
            <a:off x="3566160" y="2423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</a:t>
            </a:r>
            <a:endParaRPr lang="en-US" sz="1800" dirty="0"/>
          </a:p>
        </p:txBody>
      </p:sp>
      <p:sp>
        <p:nvSpPr>
          <p:cNvPr id="13" name="step-body-2"/>
          <p:cNvSpPr txBox="1"/>
          <p:nvPr/>
        </p:nvSpPr>
        <p:spPr>
          <a:xfrm>
            <a:off x="3566160" y="31546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 per cell. Officers and evidence move to their own rows: ASSIGNMENT and EVIDENCE_ITEM.</a:t>
            </a:r>
            <a:endParaRPr lang="en-US" sz="1400" dirty="0"/>
          </a:p>
        </p:txBody>
      </p:sp>
      <p:sp>
        <p:nvSpPr>
          <p:cNvPr id="14" name="arrow-2"/>
          <p:cNvSpPr txBox="1"/>
          <p:nvPr/>
        </p:nvSpPr>
        <p:spPr>
          <a:xfrm>
            <a:off x="594360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tep-card-3"/>
          <p:cNvSpPr/>
          <p:nvPr/>
        </p:nvSpPr>
        <p:spPr>
          <a:xfrm>
            <a:off x="6217920" y="1508760"/>
            <a:ext cx="26060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tep-label-3"/>
          <p:cNvSpPr txBox="1"/>
          <p:nvPr/>
        </p:nvSpPr>
        <p:spPr>
          <a:xfrm>
            <a:off x="644652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3600" dirty="0"/>
          </a:p>
        </p:txBody>
      </p:sp>
      <p:sp>
        <p:nvSpPr>
          <p:cNvPr id="17" name="step-title-3"/>
          <p:cNvSpPr txBox="1"/>
          <p:nvPr/>
        </p:nvSpPr>
        <p:spPr>
          <a:xfrm>
            <a:off x="6446520" y="2423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dependency</a:t>
            </a:r>
            <a:endParaRPr lang="en-US" sz="1800" dirty="0"/>
          </a:p>
        </p:txBody>
      </p:sp>
      <p:sp>
        <p:nvSpPr>
          <p:cNvPr id="18" name="step-body-3"/>
          <p:cNvSpPr txBox="1"/>
          <p:nvPr/>
        </p:nvSpPr>
        <p:spPr>
          <a:xfrm>
            <a:off x="6446520" y="31546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name and rank depend on officer_id alone, so they live in OFFICER. Complainant phone moves to PERSON.</a:t>
            </a:r>
            <a:endParaRPr lang="en-US" sz="1400" dirty="0"/>
          </a:p>
        </p:txBody>
      </p:sp>
      <p:sp>
        <p:nvSpPr>
          <p:cNvPr id="19" name="arrow-3"/>
          <p:cNvSpPr txBox="1"/>
          <p:nvPr/>
        </p:nvSpPr>
        <p:spPr>
          <a:xfrm>
            <a:off x="882396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tep-card-4"/>
          <p:cNvSpPr/>
          <p:nvPr/>
        </p:nvSpPr>
        <p:spPr>
          <a:xfrm>
            <a:off x="9098280" y="1508760"/>
            <a:ext cx="2606040" cy="3383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1" name="step-label-4"/>
          <p:cNvSpPr txBox="1"/>
          <p:nvPr/>
        </p:nvSpPr>
        <p:spPr>
          <a:xfrm>
            <a:off x="932688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3600" dirty="0"/>
          </a:p>
        </p:txBody>
      </p:sp>
      <p:sp>
        <p:nvSpPr>
          <p:cNvPr id="22" name="step-title-4"/>
          <p:cNvSpPr txBox="1"/>
          <p:nvPr/>
        </p:nvSpPr>
        <p:spPr>
          <a:xfrm>
            <a:off x="9326880" y="2423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</a:t>
            </a:r>
            <a:endParaRPr lang="en-US" sz="1800" dirty="0"/>
          </a:p>
        </p:txBody>
      </p:sp>
      <p:sp>
        <p:nvSpPr>
          <p:cNvPr id="23" name="step-body-4"/>
          <p:cNvSpPr txBox="1"/>
          <p:nvPr/>
        </p:nvSpPr>
        <p:spPr>
          <a:xfrm>
            <a:off x="9326880" y="31546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section_code determines section_title and max_penalty, so they move to the new LAW_SECTION table.</a:t>
            </a:r>
            <a:endParaRPr lang="en-US" sz="1400" dirty="0"/>
          </a:p>
        </p:txBody>
      </p:sp>
      <p:sp>
        <p:nvSpPr>
          <p:cNvPr id="24" name="result-strip"/>
          <p:cNvSpPr/>
          <p:nvPr/>
        </p:nvSpPr>
        <p:spPr>
          <a:xfrm>
            <a:off x="457200" y="5257800"/>
            <a:ext cx="11274552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result-text"/>
          <p:cNvSpPr txBox="1"/>
          <p:nvPr/>
        </p:nvSpPr>
        <p:spPr>
          <a:xfrm>
            <a:off x="731520" y="52578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relations. Every non-key attribute depends on the key, the whole key, and nothing but the key. Review 1 had 11 entities; 3NF adds LAW_SECTION.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Dependencies (1 of 2)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is a candidate key</a:t>
            </a:r>
            <a:endParaRPr lang="en-US" sz="1400" dirty="0"/>
          </a:p>
        </p:txBody>
      </p:sp>
      <p:graphicFrame>
        <p:nvGraphicFramePr>
          <p:cNvPr id="5" name="fd-table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583680"/>
                <a:gridCol w="194767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dependencies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person_id → full_name, phone, address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Key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officer_id → badge_no, full_name, rank, role;  badge_no → officer_id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Both are keys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LAW_SECTION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section_code → section_title, max_penalty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New in 3NF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complaint_id → complainant_id, category, description, incident_date, date_filed, status, closure_date, closure_reason, closed_by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Key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assignment_id → complaint_id, officer_id, assigned_date, released_date;  (complaint_id, officer_id, assigned_date) → assignment_id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Both are keys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INVESTIGATION_ACTIVITY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activity_id → complaint_id, officer_id, activity_date, activity_type, findings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Key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Dependencies (2 of 2)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is a candidate key</a:t>
            </a:r>
            <a:endParaRPr lang="en-US" sz="1400" dirty="0"/>
          </a:p>
        </p:txBody>
      </p:sp>
      <p:graphicFrame>
        <p:nvGraphicFramePr>
          <p:cNvPr id="6" name="fd-table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583680"/>
                <a:gridCol w="194767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dependencies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EVIDENCE_ITEM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evidence_id → complaint_id, description, evidence_type, collected_on, collected_by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Key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CUSTODY_LOG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custody_id → evidence_id, from_officer_id, to_officer_id, storage_location, purpose, custody_start, custody_end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Key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witness_id → complaint_id, person_id, statement, statement_date;  (complaint_id, person_id) → witness_id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Both are keys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COURT_REFERENCE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court_ref_id → complaint_id, court_name, court_case_no, hearing_date, outcome;  court_case_no → court_ref_id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Both are keys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charge_id → complaint_id, court_ref_id, section_code;  (complaint_id, section_code) → charge_id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After LAW_SECTION split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status_id → complaint_id, old_status, new_status, changed_on, changed_by, remarks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Key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Normalized Relational Schema (3NF)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tables grouped by subject area. PK = primary key, FK = foreign key, UQ = unique</a:t>
            </a:r>
            <a:endParaRPr lang="en-US" sz="1400" dirty="0"/>
          </a:p>
        </p:txBody>
      </p:sp>
      <p:sp>
        <p:nvSpPr>
          <p:cNvPr id="5" name="cluster-bg-1"/>
          <p:cNvSpPr/>
          <p:nvPr/>
        </p:nvSpPr>
        <p:spPr>
          <a:xfrm>
            <a:off x="457200" y="1463040"/>
            <a:ext cx="2651760" cy="475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cluster-head-1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cluster-title-1"/>
          <p:cNvSpPr txBox="1"/>
          <p:nvPr/>
        </p:nvSpPr>
        <p:spPr>
          <a:xfrm>
            <a:off x="59436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Cluster</a:t>
            </a:r>
            <a:endParaRPr lang="en-US" sz="1500" dirty="0"/>
          </a:p>
        </p:txBody>
      </p:sp>
      <p:sp>
        <p:nvSpPr>
          <p:cNvPr id="8" name="table-card-1-1"/>
          <p:cNvSpPr/>
          <p:nvPr/>
        </p:nvSpPr>
        <p:spPr>
          <a:xfrm>
            <a:off x="594360" y="2057400"/>
            <a:ext cx="2377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9" name="table-name-1-1"/>
          <p:cNvSpPr txBox="1"/>
          <p:nvPr/>
        </p:nvSpPr>
        <p:spPr>
          <a:xfrm>
            <a:off x="713232" y="21305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300" dirty="0"/>
          </a:p>
        </p:txBody>
      </p:sp>
      <p:sp>
        <p:nvSpPr>
          <p:cNvPr id="10" name="table-cols-1-1"/>
          <p:cNvSpPr txBox="1"/>
          <p:nvPr/>
        </p:nvSpPr>
        <p:spPr>
          <a:xfrm>
            <a:off x="713232" y="24231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person_id PK, full_name, phone, address</a:t>
            </a:r>
            <a:endParaRPr lang="en-US" sz="1200" dirty="0"/>
          </a:p>
        </p:txBody>
      </p:sp>
      <p:sp>
        <p:nvSpPr>
          <p:cNvPr id="11" name="table-card-1-2"/>
          <p:cNvSpPr/>
          <p:nvPr/>
        </p:nvSpPr>
        <p:spPr>
          <a:xfrm>
            <a:off x="594360" y="3429000"/>
            <a:ext cx="2377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" name="table-name-1-2"/>
          <p:cNvSpPr txBox="1"/>
          <p:nvPr/>
        </p:nvSpPr>
        <p:spPr>
          <a:xfrm>
            <a:off x="713232" y="35021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300" dirty="0"/>
          </a:p>
        </p:txBody>
      </p:sp>
      <p:sp>
        <p:nvSpPr>
          <p:cNvPr id="13" name="table-cols-1-2"/>
          <p:cNvSpPr txBox="1"/>
          <p:nvPr/>
        </p:nvSpPr>
        <p:spPr>
          <a:xfrm>
            <a:off x="713232" y="37947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complaint_id PK, complainant_id FK, category, status, date_filed, closure_*</a:t>
            </a:r>
            <a:endParaRPr lang="en-US" sz="1200" dirty="0"/>
          </a:p>
        </p:txBody>
      </p:sp>
      <p:sp>
        <p:nvSpPr>
          <p:cNvPr id="14" name="table-card-1-3"/>
          <p:cNvSpPr/>
          <p:nvPr/>
        </p:nvSpPr>
        <p:spPr>
          <a:xfrm>
            <a:off x="594360" y="4800600"/>
            <a:ext cx="2377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5" name="table-name-1-3"/>
          <p:cNvSpPr txBox="1"/>
          <p:nvPr/>
        </p:nvSpPr>
        <p:spPr>
          <a:xfrm>
            <a:off x="713232" y="48737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STATUS_HISTORY</a:t>
            </a:r>
            <a:endParaRPr lang="en-US" sz="1300" dirty="0"/>
          </a:p>
        </p:txBody>
      </p:sp>
      <p:sp>
        <p:nvSpPr>
          <p:cNvPr id="16" name="table-cols-1-3"/>
          <p:cNvSpPr txBox="1"/>
          <p:nvPr/>
        </p:nvSpPr>
        <p:spPr>
          <a:xfrm>
            <a:off x="713232" y="51663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status_id PK, complaint_id FK, new_status, changed_by FK</a:t>
            </a:r>
            <a:endParaRPr lang="en-US" sz="1200" dirty="0"/>
          </a:p>
        </p:txBody>
      </p:sp>
      <p:sp>
        <p:nvSpPr>
          <p:cNvPr id="17" name="cluster-bg-2"/>
          <p:cNvSpPr/>
          <p:nvPr/>
        </p:nvSpPr>
        <p:spPr>
          <a:xfrm>
            <a:off x="3331159" y="1463040"/>
            <a:ext cx="2651760" cy="475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cluster-head-2"/>
          <p:cNvSpPr/>
          <p:nvPr/>
        </p:nvSpPr>
        <p:spPr>
          <a:xfrm>
            <a:off x="3331159" y="1463040"/>
            <a:ext cx="2651760" cy="457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9" name="cluster-title-2"/>
          <p:cNvSpPr txBox="1"/>
          <p:nvPr/>
        </p:nvSpPr>
        <p:spPr>
          <a:xfrm>
            <a:off x="3468319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Cluster</a:t>
            </a:r>
            <a:endParaRPr lang="en-US" sz="1500" dirty="0"/>
          </a:p>
        </p:txBody>
      </p:sp>
      <p:sp>
        <p:nvSpPr>
          <p:cNvPr id="20" name="table-card-2-1"/>
          <p:cNvSpPr/>
          <p:nvPr/>
        </p:nvSpPr>
        <p:spPr>
          <a:xfrm>
            <a:off x="3468319" y="2057400"/>
            <a:ext cx="2377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1" name="table-name-2-1"/>
          <p:cNvSpPr txBox="1"/>
          <p:nvPr/>
        </p:nvSpPr>
        <p:spPr>
          <a:xfrm>
            <a:off x="3587191" y="21305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300" dirty="0"/>
          </a:p>
        </p:txBody>
      </p:sp>
      <p:sp>
        <p:nvSpPr>
          <p:cNvPr id="22" name="table-cols-2-1"/>
          <p:cNvSpPr txBox="1"/>
          <p:nvPr/>
        </p:nvSpPr>
        <p:spPr>
          <a:xfrm>
            <a:off x="3587191" y="24231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officer_id PK, badge_no UQ, full_name, rank, role</a:t>
            </a:r>
            <a:endParaRPr lang="en-US" sz="1200" dirty="0"/>
          </a:p>
        </p:txBody>
      </p:sp>
      <p:sp>
        <p:nvSpPr>
          <p:cNvPr id="23" name="table-card-2-2"/>
          <p:cNvSpPr/>
          <p:nvPr/>
        </p:nvSpPr>
        <p:spPr>
          <a:xfrm>
            <a:off x="3468319" y="3429000"/>
            <a:ext cx="2377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4" name="table-name-2-2"/>
          <p:cNvSpPr txBox="1"/>
          <p:nvPr/>
        </p:nvSpPr>
        <p:spPr>
          <a:xfrm>
            <a:off x="3587191" y="35021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300" dirty="0"/>
          </a:p>
        </p:txBody>
      </p:sp>
      <p:sp>
        <p:nvSpPr>
          <p:cNvPr id="25" name="table-cols-2-2"/>
          <p:cNvSpPr txBox="1"/>
          <p:nvPr/>
        </p:nvSpPr>
        <p:spPr>
          <a:xfrm>
            <a:off x="3587191" y="37947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assignment_id PK, complaint_id FK, officer_id FK, assigned_date</a:t>
            </a:r>
            <a:endParaRPr lang="en-US" sz="1200" dirty="0"/>
          </a:p>
        </p:txBody>
      </p:sp>
      <p:sp>
        <p:nvSpPr>
          <p:cNvPr id="26" name="table-card-2-3"/>
          <p:cNvSpPr/>
          <p:nvPr/>
        </p:nvSpPr>
        <p:spPr>
          <a:xfrm>
            <a:off x="3468319" y="4800600"/>
            <a:ext cx="2377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7" name="table-name-2-3"/>
          <p:cNvSpPr txBox="1"/>
          <p:nvPr/>
        </p:nvSpPr>
        <p:spPr>
          <a:xfrm>
            <a:off x="3587191" y="48737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INVESTIGATION_ACTIVITY</a:t>
            </a:r>
            <a:endParaRPr lang="en-US" sz="1300" dirty="0"/>
          </a:p>
        </p:txBody>
      </p:sp>
      <p:sp>
        <p:nvSpPr>
          <p:cNvPr id="28" name="table-cols-2-3"/>
          <p:cNvSpPr txBox="1"/>
          <p:nvPr/>
        </p:nvSpPr>
        <p:spPr>
          <a:xfrm>
            <a:off x="3587191" y="51663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activity_id PK, complaint_id FK, officer_id FK, activity_type</a:t>
            </a:r>
            <a:endParaRPr lang="en-US" sz="1200" dirty="0"/>
          </a:p>
        </p:txBody>
      </p:sp>
      <p:sp>
        <p:nvSpPr>
          <p:cNvPr id="29" name="cluster-bg-3"/>
          <p:cNvSpPr/>
          <p:nvPr/>
        </p:nvSpPr>
        <p:spPr>
          <a:xfrm>
            <a:off x="6205118" y="1463040"/>
            <a:ext cx="2651760" cy="475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cluster-head-3"/>
          <p:cNvSpPr/>
          <p:nvPr/>
        </p:nvSpPr>
        <p:spPr>
          <a:xfrm>
            <a:off x="6205118" y="1463040"/>
            <a:ext cx="2651760" cy="457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1" name="cluster-title-3"/>
          <p:cNvSpPr txBox="1"/>
          <p:nvPr/>
        </p:nvSpPr>
        <p:spPr>
          <a:xfrm>
            <a:off x="6342278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Cluster</a:t>
            </a:r>
            <a:endParaRPr lang="en-US" sz="1500" dirty="0"/>
          </a:p>
        </p:txBody>
      </p:sp>
      <p:sp>
        <p:nvSpPr>
          <p:cNvPr id="32" name="table-card-3-1"/>
          <p:cNvSpPr/>
          <p:nvPr/>
        </p:nvSpPr>
        <p:spPr>
          <a:xfrm>
            <a:off x="6342278" y="2057400"/>
            <a:ext cx="2377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3" name="table-name-3-1"/>
          <p:cNvSpPr txBox="1"/>
          <p:nvPr/>
        </p:nvSpPr>
        <p:spPr>
          <a:xfrm>
            <a:off x="6461150" y="21305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EVIDENCE_ITEM</a:t>
            </a:r>
            <a:endParaRPr lang="en-US" sz="1300" dirty="0"/>
          </a:p>
        </p:txBody>
      </p:sp>
      <p:sp>
        <p:nvSpPr>
          <p:cNvPr id="34" name="table-cols-3-1"/>
          <p:cNvSpPr txBox="1"/>
          <p:nvPr/>
        </p:nvSpPr>
        <p:spPr>
          <a:xfrm>
            <a:off x="6461150" y="24231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evidence_id PK, complaint_id FK, evidence_type, collected_by FK</a:t>
            </a:r>
            <a:endParaRPr lang="en-US" sz="1200" dirty="0"/>
          </a:p>
        </p:txBody>
      </p:sp>
      <p:sp>
        <p:nvSpPr>
          <p:cNvPr id="35" name="table-card-3-2"/>
          <p:cNvSpPr/>
          <p:nvPr/>
        </p:nvSpPr>
        <p:spPr>
          <a:xfrm>
            <a:off x="6342278" y="3429000"/>
            <a:ext cx="2377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6" name="table-name-3-2"/>
          <p:cNvSpPr txBox="1"/>
          <p:nvPr/>
        </p:nvSpPr>
        <p:spPr>
          <a:xfrm>
            <a:off x="6461150" y="35021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CUSTODY_LOG</a:t>
            </a:r>
            <a:endParaRPr lang="en-US" sz="1300" dirty="0"/>
          </a:p>
        </p:txBody>
      </p:sp>
      <p:sp>
        <p:nvSpPr>
          <p:cNvPr id="37" name="table-cols-3-2"/>
          <p:cNvSpPr txBox="1"/>
          <p:nvPr/>
        </p:nvSpPr>
        <p:spPr>
          <a:xfrm>
            <a:off x="6461150" y="37947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custody_id PK, evidence_id FK, from/to_officer_id FK, custody_start, custody_end</a:t>
            </a:r>
            <a:endParaRPr lang="en-US" sz="1200" dirty="0"/>
          </a:p>
        </p:txBody>
      </p:sp>
      <p:sp>
        <p:nvSpPr>
          <p:cNvPr id="38" name="table-card-3-3"/>
          <p:cNvSpPr/>
          <p:nvPr/>
        </p:nvSpPr>
        <p:spPr>
          <a:xfrm>
            <a:off x="6342278" y="4800600"/>
            <a:ext cx="2377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9" name="table-name-3-3"/>
          <p:cNvSpPr txBox="1"/>
          <p:nvPr/>
        </p:nvSpPr>
        <p:spPr>
          <a:xfrm>
            <a:off x="6461150" y="48737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</a:t>
            </a:r>
            <a:endParaRPr lang="en-US" sz="1300" dirty="0"/>
          </a:p>
        </p:txBody>
      </p:sp>
      <p:sp>
        <p:nvSpPr>
          <p:cNvPr id="40" name="table-cols-3-3"/>
          <p:cNvSpPr txBox="1"/>
          <p:nvPr/>
        </p:nvSpPr>
        <p:spPr>
          <a:xfrm>
            <a:off x="6461150" y="51663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witness_id PK, complaint_id FK, person_id FK, statement</a:t>
            </a:r>
            <a:endParaRPr lang="en-US" sz="1200" dirty="0"/>
          </a:p>
        </p:txBody>
      </p:sp>
      <p:sp>
        <p:nvSpPr>
          <p:cNvPr id="41" name="cluster-bg-4"/>
          <p:cNvSpPr/>
          <p:nvPr/>
        </p:nvSpPr>
        <p:spPr>
          <a:xfrm>
            <a:off x="9079078" y="1463040"/>
            <a:ext cx="2651760" cy="475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2" name="cluster-head-4"/>
          <p:cNvSpPr/>
          <p:nvPr/>
        </p:nvSpPr>
        <p:spPr>
          <a:xfrm>
            <a:off x="9079078" y="1463040"/>
            <a:ext cx="2651760" cy="457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3" name="cluster-title-4"/>
          <p:cNvSpPr txBox="1"/>
          <p:nvPr/>
        </p:nvSpPr>
        <p:spPr>
          <a:xfrm>
            <a:off x="9216238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Cluster</a:t>
            </a:r>
            <a:endParaRPr lang="en-US" sz="1500" dirty="0"/>
          </a:p>
        </p:txBody>
      </p:sp>
      <p:sp>
        <p:nvSpPr>
          <p:cNvPr id="44" name="table-card-4-1"/>
          <p:cNvSpPr/>
          <p:nvPr/>
        </p:nvSpPr>
        <p:spPr>
          <a:xfrm>
            <a:off x="9216238" y="2057400"/>
            <a:ext cx="2377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5" name="table-name-4-1"/>
          <p:cNvSpPr txBox="1"/>
          <p:nvPr/>
        </p:nvSpPr>
        <p:spPr>
          <a:xfrm>
            <a:off x="9335110" y="21305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COURT_REFERENCE</a:t>
            </a:r>
            <a:endParaRPr lang="en-US" sz="1300" dirty="0"/>
          </a:p>
        </p:txBody>
      </p:sp>
      <p:sp>
        <p:nvSpPr>
          <p:cNvPr id="46" name="table-cols-4-1"/>
          <p:cNvSpPr txBox="1"/>
          <p:nvPr/>
        </p:nvSpPr>
        <p:spPr>
          <a:xfrm>
            <a:off x="9335110" y="24231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court_ref_id PK, complaint_id FK, court_case_no UQ, hearing_date</a:t>
            </a:r>
            <a:endParaRPr lang="en-US" sz="1200" dirty="0"/>
          </a:p>
        </p:txBody>
      </p:sp>
      <p:sp>
        <p:nvSpPr>
          <p:cNvPr id="47" name="table-card-4-2"/>
          <p:cNvSpPr/>
          <p:nvPr/>
        </p:nvSpPr>
        <p:spPr>
          <a:xfrm>
            <a:off x="9216238" y="3429000"/>
            <a:ext cx="2377440" cy="1234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8" name="table-name-4-2"/>
          <p:cNvSpPr txBox="1"/>
          <p:nvPr/>
        </p:nvSpPr>
        <p:spPr>
          <a:xfrm>
            <a:off x="9335110" y="35021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1300" dirty="0"/>
          </a:p>
        </p:txBody>
      </p:sp>
      <p:sp>
        <p:nvSpPr>
          <p:cNvPr id="49" name="table-cols-4-2"/>
          <p:cNvSpPr txBox="1"/>
          <p:nvPr/>
        </p:nvSpPr>
        <p:spPr>
          <a:xfrm>
            <a:off x="9335110" y="37947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charge_id PK, complaint_id FK, court_ref_id FK, section_code FK</a:t>
            </a:r>
            <a:endParaRPr lang="en-US" sz="1200" dirty="0"/>
          </a:p>
        </p:txBody>
      </p:sp>
      <p:sp>
        <p:nvSpPr>
          <p:cNvPr id="50" name="table-card-4-3"/>
          <p:cNvSpPr/>
          <p:nvPr/>
        </p:nvSpPr>
        <p:spPr>
          <a:xfrm>
            <a:off x="9216238" y="4800600"/>
            <a:ext cx="2377440" cy="1234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1" name="table-name-4-3"/>
          <p:cNvSpPr txBox="1"/>
          <p:nvPr/>
        </p:nvSpPr>
        <p:spPr>
          <a:xfrm>
            <a:off x="9335110" y="48737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LAW_SECTION  (new)</a:t>
            </a:r>
            <a:endParaRPr lang="en-US" sz="1300" dirty="0"/>
          </a:p>
        </p:txBody>
      </p:sp>
      <p:sp>
        <p:nvSpPr>
          <p:cNvPr id="52" name="table-cols-4-3"/>
          <p:cNvSpPr txBox="1"/>
          <p:nvPr/>
        </p:nvSpPr>
        <p:spPr>
          <a:xfrm>
            <a:off x="9335110" y="51663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section_code PK, section_title, max_penalty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Dictionary: COMPLAINT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table. Closure columns are mandatory only when status is Closed</a:t>
            </a:r>
            <a:endParaRPr lang="en-US" sz="1400" dirty="0"/>
          </a:p>
        </p:txBody>
      </p:sp>
      <p:graphicFrame>
        <p:nvGraphicFramePr>
          <p:cNvPr id="8" name="dict-complai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828800"/>
                <a:gridCol w="1645920"/>
                <a:gridCol w="514807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 and rules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complaint_id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Unique; CHECK format CMP-YYYY-nnn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complainant_id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person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VARCHAR(30)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description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incident_date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NULL; CHECK incident_date ≤ date_filed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date_filed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NULL; DEFAULT current 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NULL; DEFAULT 'Registered'; CHECK in 4 allowed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closure_date, closure_reason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VARCHAR(100)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when status = 'Closed'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closed_by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officer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when status = 'Closed'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ict-footnote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Remaining 11 tables follow the same format and are listed in the project report.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Dictionary: EVIDENCE_ITEM &amp; CUSTODY_LOG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tables that carry the chain of custody</a:t>
            </a:r>
            <a:endParaRPr lang="en-US" sz="1400" dirty="0"/>
          </a:p>
        </p:txBody>
      </p:sp>
      <p:sp>
        <p:nvSpPr>
          <p:cNvPr id="5" name="label"/>
          <p:cNvSpPr txBox="1"/>
          <p:nvPr/>
        </p:nvSpPr>
        <p:spPr>
          <a:xfrm>
            <a:off x="45720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EVIDENCE_ITEM</a:t>
            </a:r>
            <a:endParaRPr lang="en-US" sz="1200" dirty="0"/>
          </a:p>
        </p:txBody>
      </p:sp>
      <p:graphicFrame>
        <p:nvGraphicFramePr>
          <p:cNvPr id="9" name="dict-eviden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64208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and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evidence_id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VARCHAR(15), PK; CHECK format EVD-YYYY-nnn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complaint_id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VARCHAR(15), FK, 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description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VARCHAR(150), 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evidence_type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VARCHAR(10), NOT NULL; CHECK Physical or Digital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collected_on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TIMESTAMP, NOT NULL; DEFAULT now()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collected_by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FK → officer, 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7" name="label"/>
          <p:cNvSpPr txBox="1"/>
          <p:nvPr/>
        </p:nvSpPr>
        <p:spPr>
          <a:xfrm>
            <a:off x="6336792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CUSTODY_LOG</a:t>
            </a:r>
            <a:endParaRPr lang="en-US" sz="1200" dirty="0"/>
          </a:p>
        </p:txBody>
      </p:sp>
      <p:graphicFrame>
        <p:nvGraphicFramePr>
          <p:cNvPr id="17" name="dict-custod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1664208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and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custody_id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SERIAL, PK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evidence_id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VARCHAR(15), FK, 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from_officer_id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FK, 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to_officer_id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FK, NOT NULL; CHECK ≠ from_officer_id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storage_location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VARCHAR(60), 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purpose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VARCHAR(80), 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custody_start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TIMESTAMP, 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custody_end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TIMESTAMP; NULL = still held; CHECK &gt; 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9" name="tablelevel-note"/>
          <p:cNvSpPr/>
          <p:nvPr/>
        </p:nvSpPr>
        <p:spPr>
          <a:xfrm>
            <a:off x="457200" y="5257800"/>
            <a:ext cx="5394960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ablelevel-text"/>
          <p:cNvSpPr txBox="1"/>
          <p:nvPr/>
        </p:nvSpPr>
        <p:spPr>
          <a:xfrm>
            <a:off x="640080" y="52578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Table-level rule on CUSTODY_LOG: EXCLUDE on (evidence_id, time range) blocks overlapping custody for the same item.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and How the Database Enforces Them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live in the schema, not only in the application</a:t>
            </a:r>
            <a:endParaRPr lang="en-US" sz="1400" dirty="0"/>
          </a:p>
        </p:txBody>
      </p:sp>
      <p:sp>
        <p:nvSpPr>
          <p:cNvPr id="5" name="rule-card-1"/>
          <p:cNvSpPr/>
          <p:nvPr/>
        </p:nvSpPr>
        <p:spPr>
          <a:xfrm>
            <a:off x="457200" y="1463040"/>
            <a:ext cx="11274552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rule-num-1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rule-num-text-1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rule-name-1"/>
          <p:cNvSpPr txBox="1"/>
          <p:nvPr/>
        </p:nvSpPr>
        <p:spPr>
          <a:xfrm>
            <a:off x="1325880" y="1463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complaint and evidence IDs</a:t>
            </a:r>
            <a:endParaRPr lang="en-US" sz="1600" dirty="0"/>
          </a:p>
        </p:txBody>
      </p:sp>
      <p:sp>
        <p:nvSpPr>
          <p:cNvPr id="9" name="rule-how-1"/>
          <p:cNvSpPr txBox="1"/>
          <p:nvPr/>
        </p:nvSpPr>
        <p:spPr>
          <a:xfrm>
            <a:off x="4846320" y="14630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plus CHECK pattern (CMP-YYYY-nnn, EVD-YYYY-nnn). Court case number is UNIQUE.</a:t>
            </a:r>
            <a:endParaRPr lang="en-US" sz="1400" dirty="0"/>
          </a:p>
        </p:txBody>
      </p:sp>
      <p:sp>
        <p:nvSpPr>
          <p:cNvPr id="10" name="rule-card-2"/>
          <p:cNvSpPr/>
          <p:nvPr/>
        </p:nvSpPr>
        <p:spPr>
          <a:xfrm>
            <a:off x="457200" y="2404872"/>
            <a:ext cx="11274552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rule-num-2"/>
          <p:cNvSpPr/>
          <p:nvPr/>
        </p:nvSpPr>
        <p:spPr>
          <a:xfrm>
            <a:off x="640080" y="2587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rule-num-text-2"/>
          <p:cNvSpPr txBox="1"/>
          <p:nvPr/>
        </p:nvSpPr>
        <p:spPr>
          <a:xfrm>
            <a:off x="64008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rule-name-2"/>
          <p:cNvSpPr txBox="1"/>
          <p:nvPr/>
        </p:nvSpPr>
        <p:spPr>
          <a:xfrm>
            <a:off x="1325880" y="24048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custody transfer</a:t>
            </a:r>
            <a:endParaRPr lang="en-US" sz="1600" dirty="0"/>
          </a:p>
        </p:txBody>
      </p:sp>
      <p:sp>
        <p:nvSpPr>
          <p:cNvPr id="14" name="rule-how-2"/>
          <p:cNvSpPr txBox="1"/>
          <p:nvPr/>
        </p:nvSpPr>
        <p:spPr>
          <a:xfrm>
            <a:off x="4846320" y="240487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from_officer_id, to_officer_id, storage_location and custody_start are NOT NULL. CHECK from ≠ to.</a:t>
            </a:r>
            <a:endParaRPr lang="en-US" sz="1400" dirty="0"/>
          </a:p>
        </p:txBody>
      </p:sp>
      <p:sp>
        <p:nvSpPr>
          <p:cNvPr id="15" name="rule-card-3"/>
          <p:cNvSpPr/>
          <p:nvPr/>
        </p:nvSpPr>
        <p:spPr>
          <a:xfrm>
            <a:off x="457200" y="3346704"/>
            <a:ext cx="11274552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rule-num-3"/>
          <p:cNvSpPr/>
          <p:nvPr/>
        </p:nvSpPr>
        <p:spPr>
          <a:xfrm>
            <a:off x="640080" y="35295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rule-num-text-3"/>
          <p:cNvSpPr txBox="1"/>
          <p:nvPr/>
        </p:nvSpPr>
        <p:spPr>
          <a:xfrm>
            <a:off x="64008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rule-name-3"/>
          <p:cNvSpPr txBox="1"/>
          <p:nvPr/>
        </p:nvSpPr>
        <p:spPr>
          <a:xfrm>
            <a:off x="1325880" y="3346704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case status</a:t>
            </a:r>
            <a:endParaRPr lang="en-US" sz="1600" dirty="0"/>
          </a:p>
        </p:txBody>
      </p:sp>
      <p:sp>
        <p:nvSpPr>
          <p:cNvPr id="19" name="rule-how-3"/>
          <p:cNvSpPr txBox="1"/>
          <p:nvPr/>
        </p:nvSpPr>
        <p:spPr>
          <a:xfrm>
            <a:off x="4846320" y="3346704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 IN (Registered, Under Investigation, Pending Court, Closed) on COMPLAINT and STATUS_HISTORY.</a:t>
            </a:r>
            <a:endParaRPr lang="en-US" sz="1400" dirty="0"/>
          </a:p>
        </p:txBody>
      </p:sp>
      <p:sp>
        <p:nvSpPr>
          <p:cNvPr id="20" name="rule-card-4"/>
          <p:cNvSpPr/>
          <p:nvPr/>
        </p:nvSpPr>
        <p:spPr>
          <a:xfrm>
            <a:off x="457200" y="4288536"/>
            <a:ext cx="11274552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rule-num-4"/>
          <p:cNvSpPr/>
          <p:nvPr/>
        </p:nvSpPr>
        <p:spPr>
          <a:xfrm>
            <a:off x="640080" y="44714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rule-num-text-4"/>
          <p:cNvSpPr txBox="1"/>
          <p:nvPr/>
        </p:nvSpPr>
        <p:spPr>
          <a:xfrm>
            <a:off x="64008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rule-name-4"/>
          <p:cNvSpPr txBox="1"/>
          <p:nvPr/>
        </p:nvSpPr>
        <p:spPr>
          <a:xfrm>
            <a:off x="1325880" y="428853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 custody</a:t>
            </a:r>
            <a:endParaRPr lang="en-US" sz="1600" dirty="0"/>
          </a:p>
        </p:txBody>
      </p:sp>
      <p:sp>
        <p:nvSpPr>
          <p:cNvPr id="24" name="rule-how-4"/>
          <p:cNvSpPr txBox="1"/>
          <p:nvPr/>
        </p:nvSpPr>
        <p:spPr>
          <a:xfrm>
            <a:off x="4846320" y="4288536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USING gist on (evidence_id, tsrange(custody_start, custody_end)). CHECK end &gt; start.</a:t>
            </a:r>
            <a:endParaRPr lang="en-US" sz="1400" dirty="0"/>
          </a:p>
        </p:txBody>
      </p:sp>
      <p:sp>
        <p:nvSpPr>
          <p:cNvPr id="25" name="rule-card-5"/>
          <p:cNvSpPr/>
          <p:nvPr/>
        </p:nvSpPr>
        <p:spPr>
          <a:xfrm>
            <a:off x="457200" y="5230368"/>
            <a:ext cx="11274552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rule-num-5"/>
          <p:cNvSpPr/>
          <p:nvPr/>
        </p:nvSpPr>
        <p:spPr>
          <a:xfrm>
            <a:off x="640080" y="5413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rule-num-text-5"/>
          <p:cNvSpPr txBox="1"/>
          <p:nvPr/>
        </p:nvSpPr>
        <p:spPr>
          <a:xfrm>
            <a:off x="640080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rule-name-5"/>
          <p:cNvSpPr txBox="1"/>
          <p:nvPr/>
        </p:nvSpPr>
        <p:spPr>
          <a:xfrm>
            <a:off x="1325880" y="52303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details required</a:t>
            </a:r>
            <a:endParaRPr lang="en-US" sz="1600" dirty="0"/>
          </a:p>
        </p:txBody>
      </p:sp>
      <p:sp>
        <p:nvSpPr>
          <p:cNvPr id="29" name="rule-how-5"/>
          <p:cNvSpPr txBox="1"/>
          <p:nvPr/>
        </p:nvSpPr>
        <p:spPr>
          <a:xfrm>
            <a:off x="4846320" y="523036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 &lt;&gt; 'Closed' OR (closure_date, closure_reason and closed_by are all NOT NULL).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Script Excerpts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PostgreSQL. Full script: 01_schema.sql (12 tables, 4 indexes)</a:t>
            </a:r>
            <a:endParaRPr lang="en-US" sz="1400" dirty="0"/>
          </a:p>
        </p:txBody>
      </p:sp>
      <p:sp>
        <p:nvSpPr>
          <p:cNvPr id="5" name="label"/>
          <p:cNvSpPr txBox="1"/>
          <p:nvPr/>
        </p:nvSpPr>
        <p:spPr>
          <a:xfrm>
            <a:off x="45720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COMPLAINT</a:t>
            </a:r>
            <a:endParaRPr lang="en-US" sz="1200" dirty="0"/>
          </a:p>
        </p:txBody>
      </p:sp>
      <p:sp>
        <p:nvSpPr>
          <p:cNvPr id="6" name="ddl-complaint-bg"/>
          <p:cNvSpPr/>
          <p:nvPr/>
        </p:nvSpPr>
        <p:spPr>
          <a:xfrm>
            <a:off x="457200" y="1645920"/>
            <a:ext cx="5577840" cy="4526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ddl-complaint"/>
          <p:cNvSpPr txBox="1"/>
          <p:nvPr/>
        </p:nvSpPr>
        <p:spPr>
          <a:xfrm>
            <a:off x="594360" y="1737360"/>
            <a:ext cx="53035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complaint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complaint_id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(15)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(complaint_id ~ '^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-[0-9]{4}-[0-9]{3,}$'),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complainant_id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person(person_id),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  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(30)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date_filed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CURRENT_DATE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(20)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'Registered'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(status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('Registered',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'Under Investigation','Pending Court',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'Closed')),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closure_date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closure_reason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closed_by 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officer(officer_id),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(status &lt;&gt; 'Closed'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closure_date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closure_reason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closed_by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8" name="label"/>
          <p:cNvSpPr txBox="1"/>
          <p:nvPr/>
        </p:nvSpPr>
        <p:spPr>
          <a:xfrm>
            <a:off x="6336792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CUSTODY_LOG</a:t>
            </a:r>
            <a:endParaRPr lang="en-US" sz="1200" dirty="0"/>
          </a:p>
        </p:txBody>
      </p:sp>
      <p:sp>
        <p:nvSpPr>
          <p:cNvPr id="9" name="ddl-custody-bg"/>
          <p:cNvSpPr/>
          <p:nvPr/>
        </p:nvSpPr>
        <p:spPr>
          <a:xfrm>
            <a:off x="6336792" y="1645920"/>
            <a:ext cx="5394960" cy="4526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0" name="ddl-custody"/>
          <p:cNvSpPr txBox="1"/>
          <p:nvPr/>
        </p:nvSpPr>
        <p:spPr>
          <a:xfrm>
            <a:off x="6473952" y="1737360"/>
            <a:ext cx="51206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btree_gist;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custody_log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custody_id  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evidence_id 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(15)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evidence_item(evidence_id),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from_officer_id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officer(officer_id),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to_officer_id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officer(officer_id),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storage_location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(60)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custody_start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custody_end 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(from_officer_id &lt;&gt; to_officer_id),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(custody_end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custody_end &gt; custody_start),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gist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evidence_id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tsrange(custody_start, custody_end)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Testing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was tested by attempting a violation. The database rejected all six</a:t>
            </a:r>
            <a:endParaRPr lang="en-US" sz="1400" dirty="0"/>
          </a:p>
        </p:txBody>
      </p:sp>
      <p:graphicFrame>
        <p:nvGraphicFramePr>
          <p:cNvPr id="12" name="tes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60320"/>
                <a:gridCol w="3657600"/>
                <a:gridCol w="459943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tested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 attempted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response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complaint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CMP-2026-001 a second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duplicate key (complaint_pkey)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evidence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EVD-2026-001 a second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duplicate key (evidence_item_pkey)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custody transfer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Custody row with to_officer_id =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NOT NULL violation on to_officer_id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overlapping custody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open custody for EVD-2026-004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exclusion constraint violated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case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status to 'Done'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CHECK violation (complaint_status_check)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Closure details 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status 'Closed' with no closure fields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CHECK violation on closure details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records across all 12 tables, loaded by 02_sample_data.sql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at-card-1"/>
          <p:cNvSpPr/>
          <p:nvPr/>
        </p:nvSpPr>
        <p:spPr>
          <a:xfrm>
            <a:off x="6309360" y="1463040"/>
            <a:ext cx="1691640" cy="1188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stat-num-1"/>
          <p:cNvSpPr txBox="1"/>
          <p:nvPr/>
        </p:nvSpPr>
        <p:spPr>
          <a:xfrm>
            <a:off x="6309360" y="15361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8" name="stat-label-1"/>
          <p:cNvSpPr txBox="1"/>
          <p:nvPr/>
        </p:nvSpPr>
        <p:spPr>
          <a:xfrm>
            <a:off x="630936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tables</a:t>
            </a:r>
            <a:endParaRPr lang="en-US" sz="1400" dirty="0"/>
          </a:p>
        </p:txBody>
      </p:sp>
      <p:sp>
        <p:nvSpPr>
          <p:cNvPr id="9" name="stat-card-2"/>
          <p:cNvSpPr/>
          <p:nvPr/>
        </p:nvSpPr>
        <p:spPr>
          <a:xfrm>
            <a:off x="8138160" y="1463040"/>
            <a:ext cx="1691640" cy="1188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0" name="stat-num-2"/>
          <p:cNvSpPr txBox="1"/>
          <p:nvPr/>
        </p:nvSpPr>
        <p:spPr>
          <a:xfrm>
            <a:off x="8138160" y="15361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600" dirty="0"/>
          </a:p>
        </p:txBody>
      </p:sp>
      <p:sp>
        <p:nvSpPr>
          <p:cNvPr id="11" name="stat-label-2"/>
          <p:cNvSpPr txBox="1"/>
          <p:nvPr/>
        </p:nvSpPr>
        <p:spPr>
          <a:xfrm>
            <a:off x="813816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sample rows</a:t>
            </a:r>
            <a:endParaRPr lang="en-US" sz="1400" dirty="0"/>
          </a:p>
        </p:txBody>
      </p:sp>
      <p:sp>
        <p:nvSpPr>
          <p:cNvPr id="12" name="stat-card-3"/>
          <p:cNvSpPr/>
          <p:nvPr/>
        </p:nvSpPr>
        <p:spPr>
          <a:xfrm>
            <a:off x="9966960" y="1463040"/>
            <a:ext cx="1691640" cy="1188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stat-num-3"/>
          <p:cNvSpPr txBox="1"/>
          <p:nvPr/>
        </p:nvSpPr>
        <p:spPr>
          <a:xfrm>
            <a:off x="9966960" y="15361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stat-label-3"/>
          <p:cNvSpPr txBox="1"/>
          <p:nvPr/>
        </p:nvSpPr>
        <p:spPr>
          <a:xfrm>
            <a:off x="996696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case statuses</a:t>
            </a:r>
            <a:endParaRPr lang="en-US" sz="1400" dirty="0"/>
          </a:p>
        </p:txBody>
      </p:sp>
      <p:sp>
        <p:nvSpPr>
          <p:cNvPr id="15" name="label"/>
          <p:cNvSpPr txBox="1"/>
          <p:nvPr/>
        </p:nvSpPr>
        <p:spPr>
          <a:xfrm>
            <a:off x="6309360" y="29260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COMPLAINT TABLE (SAMPLE)</a:t>
            </a:r>
            <a:endParaRPr lang="en-US" sz="1200" dirty="0"/>
          </a:p>
        </p:txBody>
      </p:sp>
      <p:graphicFrame>
        <p:nvGraphicFramePr>
          <p:cNvPr id="13" name="sample-complai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200400"/>
          <a:ext cx="54223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1737360"/>
                <a:gridCol w="10332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Investigation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Aug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Fraud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Aug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Aug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Burglary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Court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Aug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Investigation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Sep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Queries: Joins &amp; Aggregation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cases and officer workload</a:t>
            </a:r>
            <a:endParaRPr lang="en-US" sz="1400" dirty="0"/>
          </a:p>
        </p:txBody>
      </p:sp>
      <p:sp>
        <p:nvSpPr>
          <p:cNvPr id="5" name="label"/>
          <p:cNvSpPr txBox="1"/>
          <p:nvPr/>
        </p:nvSpPr>
        <p:spPr>
          <a:xfrm>
            <a:off x="457200" y="13258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Q1  PENDING CASES  |  JOIN</a:t>
            </a:r>
            <a:endParaRPr lang="en-US" sz="1200" dirty="0"/>
          </a:p>
        </p:txBody>
      </p:sp>
      <p:sp>
        <p:nvSpPr>
          <p:cNvPr id="6" name="label"/>
          <p:cNvSpPr txBox="1"/>
          <p:nvPr/>
        </p:nvSpPr>
        <p:spPr>
          <a:xfrm>
            <a:off x="6400800" y="13258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RESULT</a:t>
            </a:r>
            <a:endParaRPr lang="en-US" sz="1200" dirty="0"/>
          </a:p>
        </p:txBody>
      </p:sp>
      <p:sp>
        <p:nvSpPr>
          <p:cNvPr id="7" name="q1-bg"/>
          <p:cNvSpPr/>
          <p:nvPr/>
        </p:nvSpPr>
        <p:spPr>
          <a:xfrm>
            <a:off x="457200" y="1600200"/>
            <a:ext cx="5669280" cy="2011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8" name="q1"/>
          <p:cNvSpPr txBox="1"/>
          <p:nvPr/>
        </p:nvSpPr>
        <p:spPr>
          <a:xfrm>
            <a:off x="594360" y="16916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c.complaint_id, p.full_name, c.status,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CURRENT_DATE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c.date_filed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days_open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complaint 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person p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p.person_id = c.complainant_id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c.status &lt;&gt; 'Closed'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days_open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graphicFrame>
        <p:nvGraphicFramePr>
          <p:cNvPr id="14" name="q1-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00200"/>
          <a:ext cx="53309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737360"/>
                <a:gridCol w="12161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days_open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 Kumar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Investigation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Anitha Reddy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Lakshmi Devi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Court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 Goud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Investigation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10" name="label"/>
          <p:cNvSpPr txBox="1"/>
          <p:nvPr/>
        </p:nvSpPr>
        <p:spPr>
          <a:xfrm>
            <a:off x="457200" y="37947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Q2  OFFICER LOAD  |  LEFT JOIN + COUNT</a:t>
            </a:r>
            <a:endParaRPr lang="en-US" sz="1200" dirty="0"/>
          </a:p>
        </p:txBody>
      </p:sp>
      <p:sp>
        <p:nvSpPr>
          <p:cNvPr id="11" name="label"/>
          <p:cNvSpPr txBox="1"/>
          <p:nvPr/>
        </p:nvSpPr>
        <p:spPr>
          <a:xfrm>
            <a:off x="6400800" y="37947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RESULT</a:t>
            </a:r>
            <a:endParaRPr lang="en-US" sz="1200" dirty="0"/>
          </a:p>
        </p:txBody>
      </p:sp>
      <p:sp>
        <p:nvSpPr>
          <p:cNvPr id="12" name="q2-bg"/>
          <p:cNvSpPr/>
          <p:nvPr/>
        </p:nvSpPr>
        <p:spPr>
          <a:xfrm>
            <a:off x="457200" y="4069080"/>
            <a:ext cx="5669280" cy="2011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q2"/>
          <p:cNvSpPr txBox="1"/>
          <p:nvPr/>
        </p:nvSpPr>
        <p:spPr>
          <a:xfrm>
            <a:off x="594360" y="41605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o.full_name, o.rank,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(a.complaint_id)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active_cases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officer 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assignment a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a.officer_id = o.officer_id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a.released_date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o.officer_id, o.full_name, o.rank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active_cases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graphicFrame>
        <p:nvGraphicFramePr>
          <p:cNvPr id="27" name="q2-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069080"/>
          <a:ext cx="53309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733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active_cases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Madhavi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Sub-Inspector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Rajesh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Sub-Inspector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 Sunitha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Venkat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Constable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Srinivas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Queries: Views &amp; Custody Tracing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each item now, and who has held it</a:t>
            </a:r>
            <a:endParaRPr lang="en-US" sz="1400" dirty="0"/>
          </a:p>
        </p:txBody>
      </p:sp>
      <p:sp>
        <p:nvSpPr>
          <p:cNvPr id="5" name="label"/>
          <p:cNvSpPr txBox="1"/>
          <p:nvPr/>
        </p:nvSpPr>
        <p:spPr>
          <a:xfrm>
            <a:off x="457200" y="13258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V1  EVIDENCE LOCATION  |  VIEW</a:t>
            </a:r>
            <a:endParaRPr lang="en-US" sz="1200" dirty="0"/>
          </a:p>
        </p:txBody>
      </p:sp>
      <p:sp>
        <p:nvSpPr>
          <p:cNvPr id="6" name="label"/>
          <p:cNvSpPr txBox="1"/>
          <p:nvPr/>
        </p:nvSpPr>
        <p:spPr>
          <a:xfrm>
            <a:off x="6400800" y="13258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RESULT</a:t>
            </a:r>
            <a:endParaRPr lang="en-US" sz="1200" dirty="0"/>
          </a:p>
        </p:txBody>
      </p:sp>
      <p:sp>
        <p:nvSpPr>
          <p:cNvPr id="7" name="v1-bg"/>
          <p:cNvSpPr/>
          <p:nvPr/>
        </p:nvSpPr>
        <p:spPr>
          <a:xfrm>
            <a:off x="457200" y="1600200"/>
            <a:ext cx="5669280" cy="2011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8" name="v1"/>
          <p:cNvSpPr txBox="1"/>
          <p:nvPr/>
        </p:nvSpPr>
        <p:spPr>
          <a:xfrm>
            <a:off x="594360" y="16916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v_evidence_location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e.evidence_id, c.storage_location,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o.full_name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held_by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evidence_item 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custody_log c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c.evidence_id = e.evidence_id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c.custody_end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officer o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o.officer_id = c.to_officer_id;</a:t>
            </a:r>
            <a:endParaRPr lang="en-US" sz="1200" dirty="0"/>
          </a:p>
        </p:txBody>
      </p:sp>
      <p:graphicFrame>
        <p:nvGraphicFramePr>
          <p:cNvPr id="15" name="v1-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00200"/>
          <a:ext cx="53309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59152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storage_location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held_by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EVD-2026-001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 desk, Station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Madhavi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EVD-2026-002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Forensic lab, Hyderabad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Rajesh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EVD-2026-003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custody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Srinivas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EVD-2026-004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vault D-2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Venkat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10" name="label"/>
          <p:cNvSpPr txBox="1"/>
          <p:nvPr/>
        </p:nvSpPr>
        <p:spPr>
          <a:xfrm>
            <a:off x="457200" y="37947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Q4  CUSTODY HISTORY  |  SELF-JOIN ON OFFICER</a:t>
            </a:r>
            <a:endParaRPr lang="en-US" sz="1200" dirty="0"/>
          </a:p>
        </p:txBody>
      </p:sp>
      <p:sp>
        <p:nvSpPr>
          <p:cNvPr id="11" name="label"/>
          <p:cNvSpPr txBox="1"/>
          <p:nvPr/>
        </p:nvSpPr>
        <p:spPr>
          <a:xfrm>
            <a:off x="6400800" y="37947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RESULT</a:t>
            </a:r>
            <a:endParaRPr lang="en-US" sz="1200" dirty="0"/>
          </a:p>
        </p:txBody>
      </p:sp>
      <p:sp>
        <p:nvSpPr>
          <p:cNvPr id="12" name="q4-bg"/>
          <p:cNvSpPr/>
          <p:nvPr/>
        </p:nvSpPr>
        <p:spPr>
          <a:xfrm>
            <a:off x="457200" y="4069080"/>
            <a:ext cx="5669280" cy="2011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q4"/>
          <p:cNvSpPr txBox="1"/>
          <p:nvPr/>
        </p:nvSpPr>
        <p:spPr>
          <a:xfrm>
            <a:off x="594360" y="41605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f.full_name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from_officer,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t.full_name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to_officer,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c.storage_location, c.custody_start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custody_log 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officer f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f.officer_id = c.from_officer_id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officer t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t.officer_id = c.to_officer_id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c.evidence_id = '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-2026-003'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c.custody_start;</a:t>
            </a:r>
            <a:endParaRPr lang="en-US" sz="1200" dirty="0"/>
          </a:p>
        </p:txBody>
      </p:sp>
      <p:graphicFrame>
        <p:nvGraphicFramePr>
          <p:cNvPr id="29" name="q4-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069080"/>
          <a:ext cx="533095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005840"/>
                <a:gridCol w="1828800"/>
                <a:gridCol w="15361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from_officer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to_officer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storage_location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custody_start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Rajesh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Venkat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room, Locker L4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2026-09-05 19:00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Venkat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Srinivas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custody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2026-09-10 11:00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Queries: Case Timeline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ordered history built from three tables</a:t>
            </a:r>
            <a:endParaRPr lang="en-US" sz="1400" dirty="0"/>
          </a:p>
        </p:txBody>
      </p:sp>
      <p:sp>
        <p:nvSpPr>
          <p:cNvPr id="5" name="label"/>
          <p:cNvSpPr txBox="1"/>
          <p:nvPr/>
        </p:nvSpPr>
        <p:spPr>
          <a:xfrm>
            <a:off x="457200" y="13716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V2  CASE TIMELINE  |  VIEW + UNION ALL</a:t>
            </a:r>
            <a:endParaRPr lang="en-US" sz="1200" dirty="0"/>
          </a:p>
        </p:txBody>
      </p:sp>
      <p:sp>
        <p:nvSpPr>
          <p:cNvPr id="6" name="v2-bg"/>
          <p:cNvSpPr/>
          <p:nvPr/>
        </p:nvSpPr>
        <p:spPr>
          <a:xfrm>
            <a:off x="457200" y="1645920"/>
            <a:ext cx="5669280" cy="30175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v2"/>
          <p:cNvSpPr txBox="1"/>
          <p:nvPr/>
        </p:nvSpPr>
        <p:spPr>
          <a:xfrm>
            <a:off x="594360" y="173736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v_case_timeline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complaint_id, changed_on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event_time,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'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' || new_status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event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status_history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complaint_id, activity_date::timestamp,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'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' || activity_type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investigation_activity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complaint_id, collected_on,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'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' || evidence_id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evidence_item;</a:t>
            </a:r>
            <a:endParaRPr lang="en-US" sz="1200" dirty="0"/>
          </a:p>
        </p:txBody>
      </p:sp>
      <p:sp>
        <p:nvSpPr>
          <p:cNvPr id="8" name="label"/>
          <p:cNvSpPr txBox="1"/>
          <p:nvPr/>
        </p:nvSpPr>
        <p:spPr>
          <a:xfrm>
            <a:off x="457200" y="48006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QUERY THE VIEW</a:t>
            </a:r>
            <a:endParaRPr lang="en-US" sz="1200" dirty="0"/>
          </a:p>
        </p:txBody>
      </p:sp>
      <p:sp>
        <p:nvSpPr>
          <p:cNvPr id="9" name="v2-query-bg"/>
          <p:cNvSpPr/>
          <p:nvPr/>
        </p:nvSpPr>
        <p:spPr>
          <a:xfrm>
            <a:off x="457200" y="5074920"/>
            <a:ext cx="5669280" cy="1097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0" name="v2-query"/>
          <p:cNvSpPr txBox="1"/>
          <p:nvPr/>
        </p:nvSpPr>
        <p:spPr>
          <a:xfrm>
            <a:off x="594360" y="51663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v_case_timeline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complaint_id = '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-2026-004'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event_time;</a:t>
            </a:r>
            <a:endParaRPr lang="en-US" sz="1200" dirty="0"/>
          </a:p>
        </p:txBody>
      </p:sp>
      <p:sp>
        <p:nvSpPr>
          <p:cNvPr id="11" name="label"/>
          <p:cNvSpPr txBox="1"/>
          <p:nvPr/>
        </p:nvSpPr>
        <p:spPr>
          <a:xfrm>
            <a:off x="6400800" y="13716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RESULT FOR CMP-2026-004 (BURGLARY)</a:t>
            </a:r>
            <a:endParaRPr lang="en-US" sz="1200" dirty="0"/>
          </a:p>
        </p:txBody>
      </p:sp>
      <p:graphicFrame>
        <p:nvGraphicFramePr>
          <p:cNvPr id="16" name="timeline-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45920"/>
          <a:ext cx="53309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021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2026-08-21 09:30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STATUS: Registered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2026-08-22 10:00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STATUS: Under Investigation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2026-08-23 00:00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ACTIVITY: Scene visit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2026-08-23 15:30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EVIDENCE: EVD-2026-002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2026-09-05 00:00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ACTIVITY: Arrest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2026-09-05 18:10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EVIDENCE: EVD-2026-003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2026-09-06 12:00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STATUS: Pending Court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Queries: Subqueries &amp; Closures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Witnesses on open cases, and how long closures took</a:t>
            </a:r>
            <a:endParaRPr lang="en-US" sz="1400" dirty="0"/>
          </a:p>
        </p:txBody>
      </p:sp>
      <p:sp>
        <p:nvSpPr>
          <p:cNvPr id="5" name="label"/>
          <p:cNvSpPr txBox="1"/>
          <p:nvPr/>
        </p:nvSpPr>
        <p:spPr>
          <a:xfrm>
            <a:off x="457200" y="13258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Q5  WITNESSES ON OPEN CASES  |  NESTED QUERY</a:t>
            </a:r>
            <a:endParaRPr lang="en-US" sz="1200" dirty="0"/>
          </a:p>
        </p:txBody>
      </p:sp>
      <p:sp>
        <p:nvSpPr>
          <p:cNvPr id="6" name="label"/>
          <p:cNvSpPr txBox="1"/>
          <p:nvPr/>
        </p:nvSpPr>
        <p:spPr>
          <a:xfrm>
            <a:off x="6400800" y="13258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RESULT</a:t>
            </a:r>
            <a:endParaRPr lang="en-US" sz="1200" dirty="0"/>
          </a:p>
        </p:txBody>
      </p:sp>
      <p:sp>
        <p:nvSpPr>
          <p:cNvPr id="7" name="q5-bg"/>
          <p:cNvSpPr/>
          <p:nvPr/>
        </p:nvSpPr>
        <p:spPr>
          <a:xfrm>
            <a:off x="457200" y="1600200"/>
            <a:ext cx="5669280" cy="2011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8" name="q5"/>
          <p:cNvSpPr txBox="1"/>
          <p:nvPr/>
        </p:nvSpPr>
        <p:spPr>
          <a:xfrm>
            <a:off x="594360" y="16916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w.complaint_id, p.full_name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witness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witness w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person p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p.person_id = w.person_id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w.complaint_id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complaint_id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complaint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 &lt;&gt; 'Closed');</a:t>
            </a:r>
            <a:endParaRPr lang="en-US" sz="1200" dirty="0"/>
          </a:p>
        </p:txBody>
      </p:sp>
      <p:graphicFrame>
        <p:nvGraphicFramePr>
          <p:cNvPr id="17" name="q5-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00200"/>
          <a:ext cx="53309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449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 Goud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Pooja Sharma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9"/>
                    </a:solidFill>
                  </a:tcPr>
                </a:tc>
              </a:tr>
            </a:tbl>
          </a:graphicData>
        </a:graphic>
      </p:graphicFrame>
      <p:sp>
        <p:nvSpPr>
          <p:cNvPr id="10" name="label"/>
          <p:cNvSpPr txBox="1"/>
          <p:nvPr/>
        </p:nvSpPr>
        <p:spPr>
          <a:xfrm>
            <a:off x="457200" y="37947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Q6  CLOSURES  |  JOIN + DATE ARITHMETIC</a:t>
            </a:r>
            <a:endParaRPr lang="en-US" sz="1200" dirty="0"/>
          </a:p>
        </p:txBody>
      </p:sp>
      <p:sp>
        <p:nvSpPr>
          <p:cNvPr id="11" name="label"/>
          <p:cNvSpPr txBox="1"/>
          <p:nvPr/>
        </p:nvSpPr>
        <p:spPr>
          <a:xfrm>
            <a:off x="6400800" y="37947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RESULT</a:t>
            </a:r>
            <a:endParaRPr lang="en-US" sz="1200" dirty="0"/>
          </a:p>
        </p:txBody>
      </p:sp>
      <p:sp>
        <p:nvSpPr>
          <p:cNvPr id="12" name="q6-bg"/>
          <p:cNvSpPr/>
          <p:nvPr/>
        </p:nvSpPr>
        <p:spPr>
          <a:xfrm>
            <a:off x="457200" y="4069080"/>
            <a:ext cx="5669280" cy="2011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q6"/>
          <p:cNvSpPr txBox="1"/>
          <p:nvPr/>
        </p:nvSpPr>
        <p:spPr>
          <a:xfrm>
            <a:off x="594360" y="41605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c.complaint_id, c.closure_reason,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o.full_name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closed_by,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c.closure_date - c.date_filed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days_to_close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complaint 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officer o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o.officer_id = c.closed_by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c.status = 'Closed';</a:t>
            </a:r>
            <a:endParaRPr lang="en-US" sz="1200" dirty="0"/>
          </a:p>
        </p:txBody>
      </p:sp>
      <p:graphicFrame>
        <p:nvGraphicFramePr>
          <p:cNvPr id="33" name="q6-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069080"/>
          <a:ext cx="53309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097280"/>
                <a:gridCol w="12161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closure_reason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closed_by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days_to_close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CMP-2026-003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Settled; complaint withdrawn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Srinivas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 &amp; Prototype Demo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 complete; application layer starts after this review</a:t>
            </a:r>
            <a:endParaRPr lang="en-US" sz="1400" dirty="0"/>
          </a:p>
        </p:txBody>
      </p:sp>
      <p:sp>
        <p:nvSpPr>
          <p:cNvPr id="5" name="label"/>
          <p:cNvSpPr txBox="1"/>
          <p:nvPr/>
        </p:nvSpPr>
        <p:spPr>
          <a:xfrm>
            <a:off x="457200" y="13716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STATUS</a:t>
            </a:r>
            <a:endParaRPr lang="en-US" sz="1200" dirty="0"/>
          </a:p>
        </p:txBody>
      </p:sp>
      <p:sp>
        <p:nvSpPr>
          <p:cNvPr id="6" name="done-chip-1"/>
          <p:cNvSpPr/>
          <p:nvPr/>
        </p:nvSpPr>
        <p:spPr>
          <a:xfrm>
            <a:off x="457200" y="1691640"/>
            <a:ext cx="868680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7" name="done-chip-text-1"/>
          <p:cNvSpPr txBox="1"/>
          <p:nvPr/>
        </p:nvSpPr>
        <p:spPr>
          <a:xfrm>
            <a:off x="457200" y="16916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8" name="done-text-1"/>
          <p:cNvSpPr txBox="1"/>
          <p:nvPr/>
        </p:nvSpPr>
        <p:spPr>
          <a:xfrm>
            <a:off x="1463040" y="16916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3NF design and functional dependencies</a:t>
            </a:r>
            <a:endParaRPr lang="en-US" sz="1400" dirty="0"/>
          </a:p>
        </p:txBody>
      </p:sp>
      <p:sp>
        <p:nvSpPr>
          <p:cNvPr id="9" name="done-chip-2"/>
          <p:cNvSpPr/>
          <p:nvPr/>
        </p:nvSpPr>
        <p:spPr>
          <a:xfrm>
            <a:off x="457200" y="2084832"/>
            <a:ext cx="868680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10" name="done-chip-text-2"/>
          <p:cNvSpPr txBox="1"/>
          <p:nvPr/>
        </p:nvSpPr>
        <p:spPr>
          <a:xfrm>
            <a:off x="457200" y="208483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11" name="done-text-2"/>
          <p:cNvSpPr txBox="1"/>
          <p:nvPr/>
        </p:nvSpPr>
        <p:spPr>
          <a:xfrm>
            <a:off x="1463040" y="20848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dictionary</a:t>
            </a:r>
            <a:endParaRPr lang="en-US" sz="1400" dirty="0"/>
          </a:p>
        </p:txBody>
      </p:sp>
      <p:sp>
        <p:nvSpPr>
          <p:cNvPr id="12" name="done-chip-3"/>
          <p:cNvSpPr/>
          <p:nvPr/>
        </p:nvSpPr>
        <p:spPr>
          <a:xfrm>
            <a:off x="457200" y="2478024"/>
            <a:ext cx="868680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13" name="done-chip-text-3"/>
          <p:cNvSpPr txBox="1"/>
          <p:nvPr/>
        </p:nvSpPr>
        <p:spPr>
          <a:xfrm>
            <a:off x="457200" y="247802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14" name="done-text-3"/>
          <p:cNvSpPr txBox="1"/>
          <p:nvPr/>
        </p:nvSpPr>
        <p:spPr>
          <a:xfrm>
            <a:off x="1463040" y="247802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DDL with five integrity rules</a:t>
            </a:r>
            <a:endParaRPr lang="en-US" sz="1400" dirty="0"/>
          </a:p>
        </p:txBody>
      </p:sp>
      <p:sp>
        <p:nvSpPr>
          <p:cNvPr id="15" name="done-chip-4"/>
          <p:cNvSpPr/>
          <p:nvPr/>
        </p:nvSpPr>
        <p:spPr>
          <a:xfrm>
            <a:off x="457200" y="2871216"/>
            <a:ext cx="868680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16" name="done-chip-text-4"/>
          <p:cNvSpPr txBox="1"/>
          <p:nvPr/>
        </p:nvSpPr>
        <p:spPr>
          <a:xfrm>
            <a:off x="457200" y="28712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17" name="done-text-4"/>
          <p:cNvSpPr txBox="1"/>
          <p:nvPr/>
        </p:nvSpPr>
        <p:spPr>
          <a:xfrm>
            <a:off x="1463040" y="28712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Four indexes on searched columns</a:t>
            </a:r>
            <a:endParaRPr lang="en-US" sz="1400" dirty="0"/>
          </a:p>
        </p:txBody>
      </p:sp>
      <p:sp>
        <p:nvSpPr>
          <p:cNvPr id="18" name="done-chip-5"/>
          <p:cNvSpPr/>
          <p:nvPr/>
        </p:nvSpPr>
        <p:spPr>
          <a:xfrm>
            <a:off x="457200" y="3264408"/>
            <a:ext cx="868680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19" name="done-chip-text-5"/>
          <p:cNvSpPr txBox="1"/>
          <p:nvPr/>
        </p:nvSpPr>
        <p:spPr>
          <a:xfrm>
            <a:off x="457200" y="32644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20" name="done-text-5"/>
          <p:cNvSpPr txBox="1"/>
          <p:nvPr/>
        </p:nvSpPr>
        <p:spPr>
          <a:xfrm>
            <a:off x="1463040" y="32644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Sample data (56 rows)</a:t>
            </a:r>
            <a:endParaRPr lang="en-US" sz="1400" dirty="0"/>
          </a:p>
        </p:txBody>
      </p:sp>
      <p:sp>
        <p:nvSpPr>
          <p:cNvPr id="21" name="done-chip-6"/>
          <p:cNvSpPr/>
          <p:nvPr/>
        </p:nvSpPr>
        <p:spPr>
          <a:xfrm>
            <a:off x="457200" y="3657600"/>
            <a:ext cx="868680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22" name="done-chip-text-6"/>
          <p:cNvSpPr txBox="1"/>
          <p:nvPr/>
        </p:nvSpPr>
        <p:spPr>
          <a:xfrm>
            <a:off x="457200" y="36576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23" name="done-text-6"/>
          <p:cNvSpPr txBox="1"/>
          <p:nvPr/>
        </p:nvSpPr>
        <p:spPr>
          <a:xfrm>
            <a:off x="1463040" y="36576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Reports as queries and views</a:t>
            </a:r>
            <a:endParaRPr lang="en-US" sz="1400" dirty="0"/>
          </a:p>
        </p:txBody>
      </p:sp>
      <p:sp>
        <p:nvSpPr>
          <p:cNvPr id="24" name="done-chip-7"/>
          <p:cNvSpPr/>
          <p:nvPr/>
        </p:nvSpPr>
        <p:spPr>
          <a:xfrm>
            <a:off x="457200" y="4050792"/>
            <a:ext cx="868680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25" name="done-chip-text-7"/>
          <p:cNvSpPr txBox="1"/>
          <p:nvPr/>
        </p:nvSpPr>
        <p:spPr>
          <a:xfrm>
            <a:off x="457200" y="40507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26" name="done-text-7"/>
          <p:cNvSpPr txBox="1"/>
          <p:nvPr/>
        </p:nvSpPr>
        <p:spPr>
          <a:xfrm>
            <a:off x="1463040" y="40507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Constraint tests (6 of 6 rejected)</a:t>
            </a:r>
            <a:endParaRPr lang="en-US" sz="1400" dirty="0"/>
          </a:p>
        </p:txBody>
      </p:sp>
      <p:sp>
        <p:nvSpPr>
          <p:cNvPr id="27" name="label"/>
          <p:cNvSpPr txBox="1"/>
          <p:nvPr/>
        </p:nvSpPr>
        <p:spPr>
          <a:xfrm>
            <a:off x="457200" y="4572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NEXT (REVIEW 3)</a:t>
            </a:r>
            <a:endParaRPr lang="en-US" sz="1200" dirty="0"/>
          </a:p>
        </p:txBody>
      </p:sp>
      <p:sp>
        <p:nvSpPr>
          <p:cNvPr id="28" name="next-chip-1"/>
          <p:cNvSpPr/>
          <p:nvPr/>
        </p:nvSpPr>
        <p:spPr>
          <a:xfrm>
            <a:off x="457200" y="4892040"/>
            <a:ext cx="86868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29" name="next-chip-text-1"/>
          <p:cNvSpPr txBox="1"/>
          <p:nvPr/>
        </p:nvSpPr>
        <p:spPr>
          <a:xfrm>
            <a:off x="457200" y="48920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Review 3</a:t>
            </a:r>
            <a:endParaRPr lang="en-US" sz="1100" dirty="0"/>
          </a:p>
        </p:txBody>
      </p:sp>
      <p:sp>
        <p:nvSpPr>
          <p:cNvPr id="30" name="next-text-1"/>
          <p:cNvSpPr txBox="1"/>
          <p:nvPr/>
        </p:nvSpPr>
        <p:spPr>
          <a:xfrm>
            <a:off x="1463040" y="4892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or Java front end</a:t>
            </a:r>
            <a:endParaRPr lang="en-US" sz="1400" dirty="0"/>
          </a:p>
        </p:txBody>
      </p:sp>
      <p:sp>
        <p:nvSpPr>
          <p:cNvPr id="31" name="next-chip-2"/>
          <p:cNvSpPr/>
          <p:nvPr/>
        </p:nvSpPr>
        <p:spPr>
          <a:xfrm>
            <a:off x="457200" y="5239512"/>
            <a:ext cx="86868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32" name="next-chip-text-2"/>
          <p:cNvSpPr txBox="1"/>
          <p:nvPr/>
        </p:nvSpPr>
        <p:spPr>
          <a:xfrm>
            <a:off x="457200" y="52395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Review 3</a:t>
            </a:r>
            <a:endParaRPr lang="en-US" sz="1100" dirty="0"/>
          </a:p>
        </p:txBody>
      </p:sp>
      <p:sp>
        <p:nvSpPr>
          <p:cNvPr id="33" name="next-text-2"/>
          <p:cNvSpPr txBox="1"/>
          <p:nvPr/>
        </p:nvSpPr>
        <p:spPr>
          <a:xfrm>
            <a:off x="1463040" y="52395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Transactions for custody transfer</a:t>
            </a:r>
            <a:endParaRPr lang="en-US" sz="1400" dirty="0"/>
          </a:p>
        </p:txBody>
      </p:sp>
      <p:sp>
        <p:nvSpPr>
          <p:cNvPr id="34" name="next-chip-3"/>
          <p:cNvSpPr/>
          <p:nvPr/>
        </p:nvSpPr>
        <p:spPr>
          <a:xfrm>
            <a:off x="457200" y="5586984"/>
            <a:ext cx="86868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35" name="next-chip-text-3"/>
          <p:cNvSpPr txBox="1"/>
          <p:nvPr/>
        </p:nvSpPr>
        <p:spPr>
          <a:xfrm>
            <a:off x="457200" y="558698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Review 3</a:t>
            </a:r>
            <a:endParaRPr lang="en-US" sz="1100" dirty="0"/>
          </a:p>
        </p:txBody>
      </p:sp>
      <p:sp>
        <p:nvSpPr>
          <p:cNvPr id="36" name="next-text-3"/>
          <p:cNvSpPr txBox="1"/>
          <p:nvPr/>
        </p:nvSpPr>
        <p:spPr>
          <a:xfrm>
            <a:off x="1463040" y="5586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Input validation and error handling</a:t>
            </a:r>
            <a:endParaRPr lang="en-US" sz="1400" dirty="0"/>
          </a:p>
        </p:txBody>
      </p:sp>
      <p:sp>
        <p:nvSpPr>
          <p:cNvPr id="37" name="next-chip-4"/>
          <p:cNvSpPr/>
          <p:nvPr/>
        </p:nvSpPr>
        <p:spPr>
          <a:xfrm>
            <a:off x="457200" y="5934456"/>
            <a:ext cx="86868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38" name="next-chip-text-4"/>
          <p:cNvSpPr txBox="1"/>
          <p:nvPr/>
        </p:nvSpPr>
        <p:spPr>
          <a:xfrm>
            <a:off x="457200" y="59344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Review 3</a:t>
            </a:r>
            <a:endParaRPr lang="en-US" sz="1100" dirty="0"/>
          </a:p>
        </p:txBody>
      </p:sp>
      <p:sp>
        <p:nvSpPr>
          <p:cNvPr id="39" name="next-text-4"/>
          <p:cNvSpPr txBox="1"/>
          <p:nvPr/>
        </p:nvSpPr>
        <p:spPr>
          <a:xfrm>
            <a:off x="1463040" y="5934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Final report and viva</a:t>
            </a:r>
            <a:endParaRPr lang="en-US" sz="1400" dirty="0"/>
          </a:p>
        </p:txBody>
      </p:sp>
      <p:sp>
        <p:nvSpPr>
          <p:cNvPr id="40" name="demo-card"/>
          <p:cNvSpPr/>
          <p:nvPr/>
        </p:nvSpPr>
        <p:spPr>
          <a:xfrm>
            <a:off x="6675120" y="1371600"/>
            <a:ext cx="5056632" cy="48463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1" name="demo-title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flow</a:t>
            </a:r>
            <a:endParaRPr lang="en-US" sz="2000" dirty="0"/>
          </a:p>
        </p:txBody>
      </p:sp>
      <p:sp>
        <p:nvSpPr>
          <p:cNvPr id="42" name="demo-num-1"/>
          <p:cNvSpPr/>
          <p:nvPr/>
        </p:nvSpPr>
        <p:spPr>
          <a:xfrm>
            <a:off x="694944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3" name="demo-num-text-1"/>
          <p:cNvSpPr txBox="1"/>
          <p:nvPr/>
        </p:nvSpPr>
        <p:spPr>
          <a:xfrm>
            <a:off x="69494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demo-file-1"/>
          <p:cNvSpPr txBox="1"/>
          <p:nvPr/>
        </p:nvSpPr>
        <p:spPr>
          <a:xfrm>
            <a:off x="7635240" y="2194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01_schema.sql</a:t>
            </a:r>
            <a:endParaRPr lang="en-US" sz="1400" dirty="0"/>
          </a:p>
        </p:txBody>
      </p:sp>
      <p:sp>
        <p:nvSpPr>
          <p:cNvPr id="45" name="demo-desc-1"/>
          <p:cNvSpPr txBox="1"/>
          <p:nvPr/>
        </p:nvSpPr>
        <p:spPr>
          <a:xfrm>
            <a:off x="7635240" y="2505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Create 12 tables, constraints, indexes</a:t>
            </a:r>
            <a:endParaRPr lang="en-US" sz="1400" dirty="0"/>
          </a:p>
        </p:txBody>
      </p:sp>
      <p:sp>
        <p:nvSpPr>
          <p:cNvPr id="46" name="demo-num-2"/>
          <p:cNvSpPr/>
          <p:nvPr/>
        </p:nvSpPr>
        <p:spPr>
          <a:xfrm>
            <a:off x="694944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7" name="demo-num-text-2"/>
          <p:cNvSpPr txBox="1"/>
          <p:nvPr/>
        </p:nvSpPr>
        <p:spPr>
          <a:xfrm>
            <a:off x="69494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demo-file-2"/>
          <p:cNvSpPr txBox="1"/>
          <p:nvPr/>
        </p:nvSpPr>
        <p:spPr>
          <a:xfrm>
            <a:off x="7635240" y="3154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02_sample_data.sql</a:t>
            </a:r>
            <a:endParaRPr lang="en-US" sz="1400" dirty="0"/>
          </a:p>
        </p:txBody>
      </p:sp>
      <p:sp>
        <p:nvSpPr>
          <p:cNvPr id="49" name="demo-desc-2"/>
          <p:cNvSpPr txBox="1"/>
          <p:nvPr/>
        </p:nvSpPr>
        <p:spPr>
          <a:xfrm>
            <a:off x="7635240" y="3465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Load 56 realistic rows</a:t>
            </a:r>
            <a:endParaRPr lang="en-US" sz="1400" dirty="0"/>
          </a:p>
        </p:txBody>
      </p:sp>
      <p:sp>
        <p:nvSpPr>
          <p:cNvPr id="50" name="demo-num-3"/>
          <p:cNvSpPr/>
          <p:nvPr/>
        </p:nvSpPr>
        <p:spPr>
          <a:xfrm>
            <a:off x="69494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1" name="demo-num-text-3"/>
          <p:cNvSpPr txBox="1"/>
          <p:nvPr/>
        </p:nvSpPr>
        <p:spPr>
          <a:xfrm>
            <a:off x="69494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demo-file-3"/>
          <p:cNvSpPr txBox="1"/>
          <p:nvPr/>
        </p:nvSpPr>
        <p:spPr>
          <a:xfrm>
            <a:off x="7635240" y="4114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03_queries_and_views.sql</a:t>
            </a:r>
            <a:endParaRPr lang="en-US" sz="1400" dirty="0"/>
          </a:p>
        </p:txBody>
      </p:sp>
      <p:sp>
        <p:nvSpPr>
          <p:cNvPr id="53" name="demo-desc-3"/>
          <p:cNvSpPr txBox="1"/>
          <p:nvPr/>
        </p:nvSpPr>
        <p:spPr>
          <a:xfrm>
            <a:off x="7635240" y="4425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Run the seven reports</a:t>
            </a:r>
            <a:endParaRPr lang="en-US" sz="1400" dirty="0"/>
          </a:p>
        </p:txBody>
      </p:sp>
      <p:sp>
        <p:nvSpPr>
          <p:cNvPr id="54" name="demo-num-4"/>
          <p:cNvSpPr/>
          <p:nvPr/>
        </p:nvSpPr>
        <p:spPr>
          <a:xfrm>
            <a:off x="6949440" y="5120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5" name="demo-num-text-4"/>
          <p:cNvSpPr txBox="1"/>
          <p:nvPr/>
        </p:nvSpPr>
        <p:spPr>
          <a:xfrm>
            <a:off x="69494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demo-file-4"/>
          <p:cNvSpPr txBox="1"/>
          <p:nvPr/>
        </p:nvSpPr>
        <p:spPr>
          <a:xfrm>
            <a:off x="7635240" y="5074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04_constraint_tests.sql</a:t>
            </a:r>
            <a:endParaRPr lang="en-US" sz="1400" dirty="0"/>
          </a:p>
        </p:txBody>
      </p:sp>
      <p:sp>
        <p:nvSpPr>
          <p:cNvPr id="57" name="demo-desc-4"/>
          <p:cNvSpPr txBox="1"/>
          <p:nvPr/>
        </p:nvSpPr>
        <p:spPr>
          <a:xfrm>
            <a:off x="7635240" y="5385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Show the database rejecting bad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Review 2 achieved and what Review 3 will deliver</a:t>
            </a:r>
            <a:endParaRPr lang="en-US" sz="1400" dirty="0"/>
          </a:p>
        </p:txBody>
      </p:sp>
      <p:sp>
        <p:nvSpPr>
          <p:cNvPr id="5" name="summary-card"/>
          <p:cNvSpPr/>
          <p:nvPr/>
        </p:nvSpPr>
        <p:spPr>
          <a:xfrm>
            <a:off x="457200" y="1554480"/>
            <a:ext cx="5486400" cy="44805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summary-title"/>
          <p:cNvSpPr txBox="1"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Achieved in Review 2</a:t>
            </a:r>
            <a:endParaRPr lang="en-US" sz="2000" dirty="0"/>
          </a:p>
        </p:txBody>
      </p:sp>
      <p:sp>
        <p:nvSpPr>
          <p:cNvPr id="7" name="summary-list"/>
          <p:cNvSpPr txBox="1"/>
          <p:nvPr/>
        </p:nvSpPr>
        <p:spPr>
          <a:xfrm>
            <a:off x="73152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Schema normalized to 3NF with all functional dependencies documented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Five business rules enforced inside the database and verified by tests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Seven reports written as SQL queries and views on realistic data</a:t>
            </a:r>
            <a:endParaRPr lang="en-US" sz="1600" dirty="0"/>
          </a:p>
        </p:txBody>
      </p:sp>
      <p:sp>
        <p:nvSpPr>
          <p:cNvPr id="8" name="next-card"/>
          <p:cNvSpPr/>
          <p:nvPr/>
        </p:nvSpPr>
        <p:spPr>
          <a:xfrm>
            <a:off x="6245352" y="1554480"/>
            <a:ext cx="5486400" cy="44805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next-title"/>
          <p:cNvSpPr txBox="1"/>
          <p:nvPr/>
        </p:nvSpPr>
        <p:spPr>
          <a:xfrm>
            <a:off x="6519672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3 plan (Week 16)</a:t>
            </a:r>
            <a:endParaRPr lang="en-US" sz="2000" dirty="0"/>
          </a:p>
        </p:txBody>
      </p:sp>
      <p:sp>
        <p:nvSpPr>
          <p:cNvPr id="10" name="next-list"/>
          <p:cNvSpPr txBox="1"/>
          <p:nvPr/>
        </p:nvSpPr>
        <p:spPr>
          <a:xfrm>
            <a:off x="6519672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Python or Java app: complaint registration, officer assignment, activity logging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Evidence registration, custody transfer, witness entry, status update and reports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Validation, error handling, CRUD and search demonstration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Source code, test data, output screens, project report and viva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ice Evidence Dark Gold">
  <a:themeElements>
    <a:clrScheme name="Police Evidence Dark Gold">
      <a:dk1>
        <a:srgbClr val="1C1C1E"/>
      </a:dk1>
      <a:lt1>
        <a:srgbClr val="FFFFFF"/>
      </a:lt1>
      <a:dk2>
        <a:srgbClr val="2B2B2E"/>
      </a:dk2>
      <a:lt2>
        <a:srgbClr val="F1EFE9"/>
      </a:lt2>
      <a:accent1>
        <a:srgbClr val="C9A24B"/>
      </a:accent1>
      <a:accent2>
        <a:srgbClr val="9B9B96"/>
      </a:accent2>
      <a:accent3>
        <a:srgbClr val="3E7C59"/>
      </a:accent3>
      <a:accent4>
        <a:srgbClr val="B5443A"/>
      </a:accent4>
      <a:accent5>
        <a:srgbClr val="5B7DB1"/>
      </a:accent5>
      <a:accent6>
        <a:srgbClr val="7A6A4F"/>
      </a:accent6>
      <a:hlink>
        <a:srgbClr val="C9A24B"/>
      </a:hlink>
      <a:folHlink>
        <a:srgbClr val="9B9B96"/>
      </a:folHlink>
    </a:clrScheme>
    <a:fontScheme name="Police Evidence Dark Go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Police Complaint &amp; Evidence Tracking System - Review 2</dc:title>
  <dc:subject>PptxGenJS Presentation</dc:subject>
  <dc:creator>G.J. Chandrasekhar Reddy</dc:creator>
  <cp:lastModifiedBy>G.J. Chandrasekhar Reddy</cp:lastModifiedBy>
  <cp:revision>1</cp:revision>
  <dcterms:created xsi:type="dcterms:W3CDTF">2026-10-10T17:26:17Z</dcterms:created>
  <dcterms:modified xsi:type="dcterms:W3CDTF">2026-10-10T17:26:17Z</dcterms:modified>
</cp:coreProperties>
</file>