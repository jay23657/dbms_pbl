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2D1FAE-0DD1-4DD3-B635-3AF1BBF3D77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5D412B-2077-4E3C-BDA7-D19B1F003B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A6691F-8393-4946-8C7A-CD95F74FE2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7DD366-E04A-44B9-B023-60048DE732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66732F-1C6A-4E81-97FA-303CC86DE8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C633D4-30EB-4168-8455-5900BC8436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088794-B85B-4F8A-885F-279FB1E51D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63E702-7267-4AF3-9F39-FC27584638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12BBA0-C7E6-4019-AA56-F86A8CAE82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6CB993-6D43-4A03-8803-62D8A9033C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A2A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1155680" y="4572000"/>
            <a:ext cx="3291480" cy="3291480"/>
          </a:xfrm>
          <a:prstGeom prst="ellipse">
            <a:avLst/>
          </a:prstGeom>
          <a:solidFill>
            <a:srgbClr val="2424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48640" y="502920"/>
            <a:ext cx="776880" cy="77688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claude/assets/icon-shield.png"/>
          <p:cNvPicPr/>
          <p:nvPr/>
        </p:nvPicPr>
        <p:blipFill>
          <a:blip r:embed="rId1"/>
          <a:stretch/>
        </p:blipFill>
        <p:spPr>
          <a:xfrm>
            <a:off x="754560" y="7088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548640" y="205740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POLICE COMPLAINT &amp; EVIDENCE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TRACKING SYSTEM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548640" y="32461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Design and Implementation of a Relational Database Management System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685800" y="3657600"/>
            <a:ext cx="6629400" cy="0"/>
          </a:xfrm>
          <a:prstGeom prst="line">
            <a:avLst/>
          </a:prstGeom>
          <a:ln w="19050">
            <a:solidFill>
              <a:srgbClr val="C9A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548640" y="397764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 1  |  Problem Identification, Scope, Objectives &amp; Conceptual Design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548640" y="562356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Student Name: </a:t>
            </a:r>
            <a:r>
              <a:rPr lang="en-US" sz="130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[G.J. Chandrasekhar Reddy]  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Roll. No: </a:t>
            </a:r>
            <a:r>
              <a:rPr lang="en-US" sz="130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[25WU0102084]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548640" y="594360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Section</a:t>
            </a:r>
            <a:r>
              <a:rPr lang="en-US" sz="130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 : AIML Rhinos  |  Week 7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320040"/>
            <a:ext cx="11274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C1C1E"/>
                </a:solidFill>
                <a:effectLst/>
                <a:uFillTx/>
                <a:latin typeface="Cambria"/>
                <a:ea typeface="Cambria"/>
              </a:rPr>
              <a:t>Problem Identification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84132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Why the current process needs a database-backed system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57200" y="1417320"/>
            <a:ext cx="11274120" cy="1554120"/>
          </a:xfrm>
          <a:prstGeom prst="roundRect">
            <a:avLst>
              <a:gd name="adj" fmla="val 3529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777240" y="1737360"/>
            <a:ext cx="548280" cy="548280"/>
          </a:xfrm>
          <a:prstGeom prst="ellipse">
            <a:avLst/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/home/claude/assets/icon-doc.png"/>
          <p:cNvPicPr/>
          <p:nvPr/>
        </p:nvPicPr>
        <p:blipFill>
          <a:blip r:embed="rId1"/>
          <a:stretch/>
        </p:blipFill>
        <p:spPr>
          <a:xfrm>
            <a:off x="914400" y="1874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4"/>
          <p:cNvSpPr/>
          <p:nvPr/>
        </p:nvSpPr>
        <p:spPr>
          <a:xfrm>
            <a:off x="1554480" y="1691640"/>
            <a:ext cx="9875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Problem Statement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554480" y="2011680"/>
            <a:ext cx="9783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Police stations rely on unstructured paper registers to record complaints, officer assignments, and evidence movement. This weakens chain-of-custody traceability, makes case status hard to audit, and slows down investigation and reporting.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457200" y="3246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Consequences of the Manual Process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457200" y="3657600"/>
            <a:ext cx="5440320" cy="1051200"/>
          </a:xfrm>
          <a:prstGeom prst="roundRect">
            <a:avLst>
              <a:gd name="adj" fmla="val 521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960120" y="377640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Broken chain of custody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960120" y="406908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Paper hand-offs of evidence are not timestamped or cross-checked, so custody gaps go unnoticed.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6217920" y="3657600"/>
            <a:ext cx="5440320" cy="1051200"/>
          </a:xfrm>
          <a:prstGeom prst="roundRect">
            <a:avLst>
              <a:gd name="adj" fmla="val 521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6720840" y="377640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Hard to audit case status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6720840" y="406908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Without a single source of truth, tracking a complaint from filing to closure means manually cross-referencing registers.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457200" y="4892040"/>
            <a:ext cx="5440320" cy="1051200"/>
          </a:xfrm>
          <a:prstGeom prst="roundRect">
            <a:avLst>
              <a:gd name="adj" fmla="val 521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960120" y="501084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Slow investigation &amp; reporting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960120" y="530352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Officers spend time searching paper files instead of investigating; pending-case and workload reports are compiled by hand.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6217920" y="4892040"/>
            <a:ext cx="5440320" cy="1051200"/>
          </a:xfrm>
          <a:prstGeom prst="roundRect">
            <a:avLst>
              <a:gd name="adj" fmla="val 521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6720840" y="501084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No data integrity checks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2"/>
          <p:cNvSpPr/>
          <p:nvPr/>
        </p:nvSpPr>
        <p:spPr>
          <a:xfrm>
            <a:off x="6720840" y="530352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Nothing enforces valid officer assignments, unique evidence IDs, or non-overlapping custody periods.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457200" y="320040"/>
            <a:ext cx="11274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C1C1E"/>
                </a:solidFill>
                <a:effectLst/>
                <a:uFillTx/>
                <a:latin typeface="Cambria"/>
                <a:ea typeface="Cambria"/>
              </a:rPr>
              <a:t>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457200" y="84132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What the project sets out to achieve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457200" y="1417320"/>
            <a:ext cx="11274120" cy="5028840"/>
          </a:xfrm>
          <a:prstGeom prst="roundRect">
            <a:avLst>
              <a:gd name="adj" fmla="val 909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868680" y="1783080"/>
            <a:ext cx="310680" cy="31068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868680" y="17830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1325880" y="172836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 the Domain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1325880" y="2002680"/>
            <a:ext cx="47545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Identify entities, attributes and relationships covering complaints, persons, officers, evidence and custody.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7"/>
          <p:cNvSpPr/>
          <p:nvPr/>
        </p:nvSpPr>
        <p:spPr>
          <a:xfrm>
            <a:off x="6400800" y="1783080"/>
            <a:ext cx="310680" cy="31068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6400800" y="17830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6858000" y="172836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Normalize to 3NF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6858000" y="2002680"/>
            <a:ext cx="47545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Convert the ER model into a relational schema, removing redundancy and update anomalies.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868680" y="3291840"/>
            <a:ext cx="310680" cy="31068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868680" y="32918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1325880" y="32371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Enforce Integrity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1325880" y="3511440"/>
            <a:ext cx="47545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Apply PK/FK, UNIQUE, NOT NULL, CHECK and DEFAULT constraints for critical business rules.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6400800" y="3291840"/>
            <a:ext cx="310680" cy="31068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6400800" y="32918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6858000" y="32371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Guarantee Chain of Custody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6858000" y="3511440"/>
            <a:ext cx="47545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Ensure every evidence transfer is logged with no overlapping custody periods.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868680" y="4800600"/>
            <a:ext cx="310680" cy="31068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868680" y="4800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1325880" y="474588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Enable Reporting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1325880" y="5020200"/>
            <a:ext cx="47545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Support pending-case, officer-load, evidence-location and case-timeline reports.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3"/>
          <p:cNvSpPr/>
          <p:nvPr/>
        </p:nvSpPr>
        <p:spPr>
          <a:xfrm>
            <a:off x="6400800" y="4800600"/>
            <a:ext cx="310680" cy="31068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6400800" y="4800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6858000" y="474588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 a Front 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6858000" y="5020200"/>
            <a:ext cx="47545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Provide a Java/Python application for day-to-day data entry and search.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457200" y="320040"/>
            <a:ext cx="11274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C1C1E"/>
                </a:solidFill>
                <a:effectLst/>
                <a:uFillTx/>
                <a:latin typeface="Cambria"/>
                <a:ea typeface="Cambria"/>
              </a:rPr>
              <a:t>Scope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457200" y="84132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What Review 1 covers, and what sits outside the current boundary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457200" y="1463040"/>
            <a:ext cx="6720480" cy="4937400"/>
          </a:xfrm>
          <a:prstGeom prst="roundRect">
            <a:avLst>
              <a:gd name="adj" fmla="val 1111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777240" y="169164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In Scope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777240" y="2194560"/>
            <a:ext cx="60346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32323"/>
              </a:buClr>
              <a:buFont typeface="OpenSymbol"/>
              <a:buChar char="✓"/>
            </a:pPr>
            <a:r>
              <a:rPr lang="en-US" sz="13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Complaint registration &amp; officer assignment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32323"/>
              </a:buClr>
              <a:buFont typeface="OpenSymbol"/>
              <a:buChar char="✓"/>
            </a:pPr>
            <a:r>
              <a:rPr lang="en-US" sz="13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Investigation activity &amp; evidence logging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32323"/>
              </a:buClr>
              <a:buFont typeface="OpenSymbol"/>
              <a:buChar char="✓"/>
            </a:pPr>
            <a:r>
              <a:rPr lang="en-US" sz="13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Custody transfer with full chain tracking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32323"/>
              </a:buClr>
              <a:buFont typeface="OpenSymbol"/>
              <a:buChar char="✓"/>
            </a:pPr>
            <a:r>
              <a:rPr lang="en-US" sz="13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Witness, court reference &amp; charge records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32323"/>
              </a:buClr>
              <a:buFont typeface="OpenSymbol"/>
              <a:buChar char="✓"/>
            </a:pPr>
            <a:r>
              <a:rPr lang="en-US" sz="13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Status history &amp; reporting (single station)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7360920" y="1463040"/>
            <a:ext cx="4370400" cy="4937400"/>
          </a:xfrm>
          <a:prstGeom prst="roundRect">
            <a:avLst>
              <a:gd name="adj" fmla="val 1255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7680960" y="169164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 of Scope (This Review)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7680960" y="2148840"/>
            <a:ext cx="37486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C9C7C4"/>
              </a:buClr>
              <a:buFont typeface="Wingdings" charset="2"/>
              <a:buChar char=""/>
            </a:pPr>
            <a:r>
              <a:rPr lang="en-US" sz="12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Multi-station / inter-district data sharing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C9C7C4"/>
              </a:buClr>
              <a:buFont typeface="Wingdings" charset="2"/>
              <a:buChar char=""/>
            </a:pPr>
            <a:r>
              <a:rPr lang="en-US" sz="12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Full 3NF normalization &amp; functional dependencies (Review 2)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C9C7C4"/>
              </a:buClr>
              <a:buFont typeface="Wingdings" charset="2"/>
              <a:buChar char=""/>
            </a:pPr>
            <a:r>
              <a:rPr lang="en-US" sz="12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Mobile application front end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C9C7C4"/>
              </a:buClr>
              <a:buFont typeface="Wingdings" charset="2"/>
              <a:buChar char=""/>
            </a:pPr>
            <a:r>
              <a:rPr lang="en-US" sz="12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Biometric or forensic-lab integrations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C9C7C4"/>
              </a:buClr>
              <a:buFont typeface="Wingdings" charset="2"/>
              <a:buChar char=""/>
            </a:pPr>
            <a:r>
              <a:rPr lang="en-US" sz="1250" b="0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Public-facing complaint portal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320040"/>
            <a:ext cx="11274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C1C1E"/>
                </a:solidFill>
                <a:effectLst/>
                <a:uFillTx/>
                <a:latin typeface="Cambria"/>
                <a:ea typeface="Cambria"/>
              </a:rPr>
              <a:t>System Users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457200" y="84132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Roles that interact with the system and their responsibilities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457200" y="1600200"/>
            <a:ext cx="5440320" cy="1919880"/>
          </a:xfrm>
          <a:prstGeom prst="roundRect">
            <a:avLst>
              <a:gd name="adj" fmla="val 3810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749880" y="2322720"/>
            <a:ext cx="475200" cy="475200"/>
          </a:xfrm>
          <a:prstGeom prst="ellipse">
            <a:avLst/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0" descr="/home/claude/assets/icon-person.png"/>
          <p:cNvPicPr/>
          <p:nvPr/>
        </p:nvPicPr>
        <p:blipFill>
          <a:blip r:embed="rId1"/>
          <a:stretch/>
        </p:blipFill>
        <p:spPr>
          <a:xfrm>
            <a:off x="868680" y="244152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4"/>
          <p:cNvSpPr/>
          <p:nvPr/>
        </p:nvSpPr>
        <p:spPr>
          <a:xfrm>
            <a:off x="1417320" y="172836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System Administrator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1417320" y="2057400"/>
            <a:ext cx="4297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Manages officers, master data and access; no restrictions on records.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6217920" y="1600200"/>
            <a:ext cx="5440320" cy="1919880"/>
          </a:xfrm>
          <a:prstGeom prst="roundRect">
            <a:avLst>
              <a:gd name="adj" fmla="val 3810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"/>
          <p:cNvSpPr/>
          <p:nvPr/>
        </p:nvSpPr>
        <p:spPr>
          <a:xfrm>
            <a:off x="6510600" y="2322720"/>
            <a:ext cx="475200" cy="475200"/>
          </a:xfrm>
          <a:prstGeom prst="ellipse">
            <a:avLst/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1" descr="/home/claude/assets/icon-person.png"/>
          <p:cNvPicPr/>
          <p:nvPr/>
        </p:nvPicPr>
        <p:blipFill>
          <a:blip r:embed="rId2"/>
          <a:stretch/>
        </p:blipFill>
        <p:spPr>
          <a:xfrm>
            <a:off x="6629400" y="244152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8"/>
          <p:cNvSpPr/>
          <p:nvPr/>
        </p:nvSpPr>
        <p:spPr>
          <a:xfrm>
            <a:off x="7178040" y="172836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Investigating Officer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7178040" y="2057400"/>
            <a:ext cx="4297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Logs investigation activities, registers evidence, updates case status.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457200" y="3749040"/>
            <a:ext cx="5440320" cy="1919880"/>
          </a:xfrm>
          <a:prstGeom prst="roundRect">
            <a:avLst>
              <a:gd name="adj" fmla="val 3810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749880" y="4471560"/>
            <a:ext cx="475200" cy="475200"/>
          </a:xfrm>
          <a:prstGeom prst="ellipse">
            <a:avLst/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2" descr="/home/claude/assets/icon-person.png"/>
          <p:cNvPicPr/>
          <p:nvPr/>
        </p:nvPicPr>
        <p:blipFill>
          <a:blip r:embed="rId3"/>
          <a:stretch/>
        </p:blipFill>
        <p:spPr>
          <a:xfrm>
            <a:off x="868680" y="45903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12"/>
          <p:cNvSpPr/>
          <p:nvPr/>
        </p:nvSpPr>
        <p:spPr>
          <a:xfrm>
            <a:off x="1417320" y="387720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Station Head / Supervisor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1417320" y="4206240"/>
            <a:ext cx="4297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Assigns officers to complaints and monitors officer workload.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6217920" y="3749040"/>
            <a:ext cx="5440320" cy="1919880"/>
          </a:xfrm>
          <a:prstGeom prst="roundRect">
            <a:avLst>
              <a:gd name="adj" fmla="val 3810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5"/>
          <p:cNvSpPr/>
          <p:nvPr/>
        </p:nvSpPr>
        <p:spPr>
          <a:xfrm>
            <a:off x="6510600" y="4471560"/>
            <a:ext cx="475200" cy="475200"/>
          </a:xfrm>
          <a:prstGeom prst="ellipse">
            <a:avLst/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3" descr="/home/claude/assets/icon-person.png"/>
          <p:cNvPicPr/>
          <p:nvPr/>
        </p:nvPicPr>
        <p:blipFill>
          <a:blip r:embed="rId4"/>
          <a:stretch/>
        </p:blipFill>
        <p:spPr>
          <a:xfrm>
            <a:off x="6629400" y="45903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16"/>
          <p:cNvSpPr/>
          <p:nvPr/>
        </p:nvSpPr>
        <p:spPr>
          <a:xfrm>
            <a:off x="7178040" y="3877200"/>
            <a:ext cx="4297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Evidence / Court Liaison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7178040" y="4206240"/>
            <a:ext cx="4297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Handles custody transfer, witness entries and court reference records.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57200" y="320040"/>
            <a:ext cx="11274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C1C1E"/>
                </a:solidFill>
                <a:effectLst/>
                <a:uFillTx/>
                <a:latin typeface="Cambria"/>
                <a:ea typeface="Cambria"/>
              </a:rPr>
              <a:t>Software Requirements Specification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57200" y="84132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Functional Requirements (FR)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57200" y="1463040"/>
            <a:ext cx="3611520" cy="1444320"/>
          </a:xfrm>
          <a:prstGeom prst="roundRect">
            <a:avLst>
              <a:gd name="adj" fmla="val 379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640080" y="1627560"/>
            <a:ext cx="566640" cy="27396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640080" y="162756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FR-1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640080" y="19569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Register complaints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640080" y="2249280"/>
            <a:ext cx="3245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Capture complainant details and incident information to open a new complaint record.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4288680" y="1463040"/>
            <a:ext cx="3611520" cy="1444320"/>
          </a:xfrm>
          <a:prstGeom prst="roundRect">
            <a:avLst>
              <a:gd name="adj" fmla="val 379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4471560" y="1627560"/>
            <a:ext cx="566640" cy="27396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4471560" y="162756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FR-2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4471560" y="19569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Assign officers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4471560" y="2249280"/>
            <a:ext cx="3245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Assign one or more officers to a complaint and track assignment dates.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8119800" y="1463040"/>
            <a:ext cx="3611520" cy="1444320"/>
          </a:xfrm>
          <a:prstGeom prst="roundRect">
            <a:avLst>
              <a:gd name="adj" fmla="val 379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3"/>
          <p:cNvSpPr/>
          <p:nvPr/>
        </p:nvSpPr>
        <p:spPr>
          <a:xfrm>
            <a:off x="8302680" y="1627560"/>
            <a:ext cx="566640" cy="27396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8302680" y="162756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FR-3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8302680" y="19569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Log investigation activity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8302680" y="2249280"/>
            <a:ext cx="3245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Record investigation activities against a complaint with date and findings.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457200" y="3063240"/>
            <a:ext cx="3611520" cy="1444320"/>
          </a:xfrm>
          <a:prstGeom prst="roundRect">
            <a:avLst>
              <a:gd name="adj" fmla="val 379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8"/>
          <p:cNvSpPr/>
          <p:nvPr/>
        </p:nvSpPr>
        <p:spPr>
          <a:xfrm>
            <a:off x="640080" y="3227760"/>
            <a:ext cx="566640" cy="27396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640080" y="322776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FR-4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640080" y="35571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Register evidence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1"/>
          <p:cNvSpPr/>
          <p:nvPr/>
        </p:nvSpPr>
        <p:spPr>
          <a:xfrm>
            <a:off x="640080" y="3849480"/>
            <a:ext cx="3245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Register evidence items with unique evidence IDs and type (physical/digital).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2"/>
          <p:cNvSpPr/>
          <p:nvPr/>
        </p:nvSpPr>
        <p:spPr>
          <a:xfrm>
            <a:off x="4288680" y="3063240"/>
            <a:ext cx="3611520" cy="1444320"/>
          </a:xfrm>
          <a:prstGeom prst="roundRect">
            <a:avLst>
              <a:gd name="adj" fmla="val 379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3"/>
          <p:cNvSpPr/>
          <p:nvPr/>
        </p:nvSpPr>
        <p:spPr>
          <a:xfrm>
            <a:off x="4471560" y="3227760"/>
            <a:ext cx="566640" cy="27396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4"/>
          <p:cNvSpPr/>
          <p:nvPr/>
        </p:nvSpPr>
        <p:spPr>
          <a:xfrm>
            <a:off x="4471560" y="322776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FR-5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5"/>
          <p:cNvSpPr/>
          <p:nvPr/>
        </p:nvSpPr>
        <p:spPr>
          <a:xfrm>
            <a:off x="4471560" y="35571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Track custody transfer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6"/>
          <p:cNvSpPr/>
          <p:nvPr/>
        </p:nvSpPr>
        <p:spPr>
          <a:xfrm>
            <a:off x="4471560" y="3849480"/>
            <a:ext cx="3245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Log every custody transfer with complete from/to officer and timestamp.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7"/>
          <p:cNvSpPr/>
          <p:nvPr/>
        </p:nvSpPr>
        <p:spPr>
          <a:xfrm>
            <a:off x="8119800" y="3063240"/>
            <a:ext cx="3611520" cy="1444320"/>
          </a:xfrm>
          <a:prstGeom prst="roundRect">
            <a:avLst>
              <a:gd name="adj" fmla="val 379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8"/>
          <p:cNvSpPr/>
          <p:nvPr/>
        </p:nvSpPr>
        <p:spPr>
          <a:xfrm>
            <a:off x="8302680" y="3227760"/>
            <a:ext cx="566640" cy="27396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9"/>
          <p:cNvSpPr/>
          <p:nvPr/>
        </p:nvSpPr>
        <p:spPr>
          <a:xfrm>
            <a:off x="8302680" y="322776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FR-6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0"/>
          <p:cNvSpPr/>
          <p:nvPr/>
        </p:nvSpPr>
        <p:spPr>
          <a:xfrm>
            <a:off x="8302680" y="35571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Record witness statements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1"/>
          <p:cNvSpPr/>
          <p:nvPr/>
        </p:nvSpPr>
        <p:spPr>
          <a:xfrm>
            <a:off x="8302680" y="3849480"/>
            <a:ext cx="3245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Capture witness statements linked to the relevant complaint.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2"/>
          <p:cNvSpPr/>
          <p:nvPr/>
        </p:nvSpPr>
        <p:spPr>
          <a:xfrm>
            <a:off x="457200" y="4663440"/>
            <a:ext cx="3611520" cy="1444320"/>
          </a:xfrm>
          <a:prstGeom prst="roundRect">
            <a:avLst>
              <a:gd name="adj" fmla="val 379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3"/>
          <p:cNvSpPr/>
          <p:nvPr/>
        </p:nvSpPr>
        <p:spPr>
          <a:xfrm>
            <a:off x="640080" y="4827960"/>
            <a:ext cx="566640" cy="27396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4"/>
          <p:cNvSpPr/>
          <p:nvPr/>
        </p:nvSpPr>
        <p:spPr>
          <a:xfrm>
            <a:off x="640080" y="482796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FR-7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5"/>
          <p:cNvSpPr/>
          <p:nvPr/>
        </p:nvSpPr>
        <p:spPr>
          <a:xfrm>
            <a:off x="640080" y="51573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Maintain legal records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6"/>
          <p:cNvSpPr/>
          <p:nvPr/>
        </p:nvSpPr>
        <p:spPr>
          <a:xfrm>
            <a:off x="640080" y="5449680"/>
            <a:ext cx="3245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Maintain court references and charges filed against a complaint.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7"/>
          <p:cNvSpPr/>
          <p:nvPr/>
        </p:nvSpPr>
        <p:spPr>
          <a:xfrm>
            <a:off x="4288680" y="4663440"/>
            <a:ext cx="3611520" cy="1444320"/>
          </a:xfrm>
          <a:prstGeom prst="roundRect">
            <a:avLst>
              <a:gd name="adj" fmla="val 379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8"/>
          <p:cNvSpPr/>
          <p:nvPr/>
        </p:nvSpPr>
        <p:spPr>
          <a:xfrm>
            <a:off x="4471560" y="4827960"/>
            <a:ext cx="566640" cy="27396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9"/>
          <p:cNvSpPr/>
          <p:nvPr/>
        </p:nvSpPr>
        <p:spPr>
          <a:xfrm>
            <a:off x="4471560" y="482796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FR-8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0"/>
          <p:cNvSpPr/>
          <p:nvPr/>
        </p:nvSpPr>
        <p:spPr>
          <a:xfrm>
            <a:off x="4471560" y="51573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Track status history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1"/>
          <p:cNvSpPr/>
          <p:nvPr/>
        </p:nvSpPr>
        <p:spPr>
          <a:xfrm>
            <a:off x="4471560" y="5449680"/>
            <a:ext cx="3245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Maintain a status history for each complaint from filing to closure.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2"/>
          <p:cNvSpPr/>
          <p:nvPr/>
        </p:nvSpPr>
        <p:spPr>
          <a:xfrm>
            <a:off x="8119800" y="4663440"/>
            <a:ext cx="3611520" cy="1444320"/>
          </a:xfrm>
          <a:prstGeom prst="roundRect">
            <a:avLst>
              <a:gd name="adj" fmla="val 3797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3"/>
          <p:cNvSpPr/>
          <p:nvPr/>
        </p:nvSpPr>
        <p:spPr>
          <a:xfrm>
            <a:off x="8302680" y="4827960"/>
            <a:ext cx="566640" cy="27396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4"/>
          <p:cNvSpPr/>
          <p:nvPr/>
        </p:nvSpPr>
        <p:spPr>
          <a:xfrm>
            <a:off x="8302680" y="482796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FR-9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5"/>
          <p:cNvSpPr/>
          <p:nvPr/>
        </p:nvSpPr>
        <p:spPr>
          <a:xfrm>
            <a:off x="8302680" y="515736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Search &amp; report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6"/>
          <p:cNvSpPr/>
          <p:nvPr/>
        </p:nvSpPr>
        <p:spPr>
          <a:xfrm>
            <a:off x="8302680" y="5449680"/>
            <a:ext cx="3245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Search, filter and generate operational reports (pending cases, officer load, evidence location).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57200" y="320040"/>
            <a:ext cx="11274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C1C1E"/>
                </a:solidFill>
                <a:effectLst/>
                <a:uFillTx/>
                <a:latin typeface="Cambria"/>
                <a:ea typeface="Cambria"/>
              </a:rPr>
              <a:t>Software Requirements Specification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57200" y="84132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Non-Functional Requirements (NFR)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57200" y="1463040"/>
            <a:ext cx="5440320" cy="1042200"/>
          </a:xfrm>
          <a:prstGeom prst="roundRect">
            <a:avLst>
              <a:gd name="adj" fmla="val 5263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960120" y="155448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NFR-1  Data Integrity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960120" y="184716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PK/FK, UNIQUE, NOT NULL, CHECK and DEFAULT constraints enforced at the schema level; no orphaned or duplicate records.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6217920" y="1463040"/>
            <a:ext cx="5440320" cy="1042200"/>
          </a:xfrm>
          <a:prstGeom prst="roundRect">
            <a:avLst>
              <a:gd name="adj" fmla="val 5263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6720840" y="155448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NFR-2  Security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6720840" y="184716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Role-based access control so each user role only sees and edits the records its role permits.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457200" y="2670120"/>
            <a:ext cx="5440320" cy="1042200"/>
          </a:xfrm>
          <a:prstGeom prst="roundRect">
            <a:avLst>
              <a:gd name="adj" fmla="val 5263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960120" y="276156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NFR-3  Auditability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3"/>
          <p:cNvSpPr/>
          <p:nvPr/>
        </p:nvSpPr>
        <p:spPr>
          <a:xfrm>
            <a:off x="960120" y="305424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Every status change and custody transfer is timestamped and traceable to the officer who made it.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4"/>
          <p:cNvSpPr/>
          <p:nvPr/>
        </p:nvSpPr>
        <p:spPr>
          <a:xfrm>
            <a:off x="6217920" y="2670120"/>
            <a:ext cx="5440320" cy="1042200"/>
          </a:xfrm>
          <a:prstGeom prst="roundRect">
            <a:avLst>
              <a:gd name="adj" fmla="val 5263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6720840" y="276156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NFR-4  Performance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6720840" y="305424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Common searches (by complaint, officer, evidence ID) return results in under 2 seconds on station-scale data volumes.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8"/>
          <p:cNvSpPr/>
          <p:nvPr/>
        </p:nvSpPr>
        <p:spPr>
          <a:xfrm>
            <a:off x="457200" y="3877200"/>
            <a:ext cx="5440320" cy="1042200"/>
          </a:xfrm>
          <a:prstGeom prst="roundRect">
            <a:avLst>
              <a:gd name="adj" fmla="val 5263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0"/>
          <p:cNvSpPr/>
          <p:nvPr/>
        </p:nvSpPr>
        <p:spPr>
          <a:xfrm>
            <a:off x="960120" y="396864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NFR-5  Reliability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1"/>
          <p:cNvSpPr/>
          <p:nvPr/>
        </p:nvSpPr>
        <p:spPr>
          <a:xfrm>
            <a:off x="960120" y="426096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No overlapping custody periods are ever accepted; the database rejects inconsistent transfers rather than silently allowing them.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2"/>
          <p:cNvSpPr/>
          <p:nvPr/>
        </p:nvSpPr>
        <p:spPr>
          <a:xfrm>
            <a:off x="6217920" y="3877200"/>
            <a:ext cx="5440320" cy="1042200"/>
          </a:xfrm>
          <a:prstGeom prst="roundRect">
            <a:avLst>
              <a:gd name="adj" fmla="val 5263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4"/>
          <p:cNvSpPr/>
          <p:nvPr/>
        </p:nvSpPr>
        <p:spPr>
          <a:xfrm>
            <a:off x="6720840" y="396864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NFR-6  Usability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5"/>
          <p:cNvSpPr/>
          <p:nvPr/>
        </p:nvSpPr>
        <p:spPr>
          <a:xfrm>
            <a:off x="6720840" y="426096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The Java/Python front end supports day-to-day data entry and search without requiring database knowledge.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6"/>
          <p:cNvSpPr/>
          <p:nvPr/>
        </p:nvSpPr>
        <p:spPr>
          <a:xfrm>
            <a:off x="457200" y="5083920"/>
            <a:ext cx="5440320" cy="1042200"/>
          </a:xfrm>
          <a:prstGeom prst="roundRect">
            <a:avLst>
              <a:gd name="adj" fmla="val 5263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8"/>
          <p:cNvSpPr/>
          <p:nvPr/>
        </p:nvSpPr>
        <p:spPr>
          <a:xfrm>
            <a:off x="960120" y="517536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NFR-7  Maintainability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9"/>
          <p:cNvSpPr/>
          <p:nvPr/>
        </p:nvSpPr>
        <p:spPr>
          <a:xfrm>
            <a:off x="960120" y="546804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The schema is normalized to reduce redundancy, so future changes touch a single table rather than many.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0"/>
          <p:cNvSpPr/>
          <p:nvPr/>
        </p:nvSpPr>
        <p:spPr>
          <a:xfrm>
            <a:off x="6217920" y="5083920"/>
            <a:ext cx="5440320" cy="1042200"/>
          </a:xfrm>
          <a:prstGeom prst="roundRect">
            <a:avLst>
              <a:gd name="adj" fmla="val 5263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2"/>
          <p:cNvSpPr/>
          <p:nvPr/>
        </p:nvSpPr>
        <p:spPr>
          <a:xfrm>
            <a:off x="6720840" y="517536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NFR-8  Availability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3"/>
          <p:cNvSpPr/>
          <p:nvPr/>
        </p:nvSpPr>
        <p:spPr>
          <a:xfrm>
            <a:off x="6720840" y="5468040"/>
            <a:ext cx="4708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The system is available during station working hours with minimal planned downtime for backups.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57200" y="320040"/>
            <a:ext cx="11274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C1C1E"/>
                </a:solidFill>
                <a:effectLst/>
                <a:uFillTx/>
                <a:latin typeface="Cambria"/>
                <a:ea typeface="Cambria"/>
              </a:rPr>
              <a:t>Conceptual Design — Entity-Relationship Diagram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457200" y="84132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Entities (rectangles), attributes (ovals) and cardinalities (1 = one, M = many)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320040" y="3630240"/>
            <a:ext cx="141696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320040" y="36759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PERSON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320040" y="395028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complainant / witness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5"/>
          <p:cNvSpPr/>
          <p:nvPr/>
        </p:nvSpPr>
        <p:spPr>
          <a:xfrm>
            <a:off x="2331720" y="3493080"/>
            <a:ext cx="1599840" cy="7768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2331720" y="3538800"/>
            <a:ext cx="1599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COMPLAINT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2331720" y="408744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case record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4709160" y="1618560"/>
            <a:ext cx="1554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4709160" y="16642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ASSIGNMENT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4709160" y="189288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officer &lt;-&gt; complaint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1"/>
          <p:cNvSpPr/>
          <p:nvPr/>
        </p:nvSpPr>
        <p:spPr>
          <a:xfrm>
            <a:off x="4709160" y="2414160"/>
            <a:ext cx="1554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4709160" y="24598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STATUS HISTORY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4709160" y="268848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status log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4709160" y="3209400"/>
            <a:ext cx="1554120" cy="5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4709160" y="325512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INVESTIGATION ACTIVITY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6"/>
          <p:cNvSpPr/>
          <p:nvPr/>
        </p:nvSpPr>
        <p:spPr>
          <a:xfrm>
            <a:off x="4709160" y="355716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activity log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7"/>
          <p:cNvSpPr/>
          <p:nvPr/>
        </p:nvSpPr>
        <p:spPr>
          <a:xfrm>
            <a:off x="4709160" y="4087440"/>
            <a:ext cx="1554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4709160" y="413316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EVIDENCE ITEM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4709160" y="436176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physical / digital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0"/>
          <p:cNvSpPr/>
          <p:nvPr/>
        </p:nvSpPr>
        <p:spPr>
          <a:xfrm>
            <a:off x="4709160" y="4883040"/>
            <a:ext cx="1554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1"/>
          <p:cNvSpPr/>
          <p:nvPr/>
        </p:nvSpPr>
        <p:spPr>
          <a:xfrm>
            <a:off x="4709160" y="492876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WITNESS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2"/>
          <p:cNvSpPr/>
          <p:nvPr/>
        </p:nvSpPr>
        <p:spPr>
          <a:xfrm>
            <a:off x="4709160" y="515736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statement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3"/>
          <p:cNvSpPr/>
          <p:nvPr/>
        </p:nvSpPr>
        <p:spPr>
          <a:xfrm>
            <a:off x="4709160" y="5678280"/>
            <a:ext cx="1554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4"/>
          <p:cNvSpPr/>
          <p:nvPr/>
        </p:nvSpPr>
        <p:spPr>
          <a:xfrm>
            <a:off x="4709160" y="572400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COURT REFERENCE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5"/>
          <p:cNvSpPr/>
          <p:nvPr/>
        </p:nvSpPr>
        <p:spPr>
          <a:xfrm>
            <a:off x="4709160" y="59526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hearing details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6"/>
          <p:cNvSpPr/>
          <p:nvPr/>
        </p:nvSpPr>
        <p:spPr>
          <a:xfrm>
            <a:off x="9692640" y="3264480"/>
            <a:ext cx="1554120" cy="7768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7"/>
          <p:cNvSpPr/>
          <p:nvPr/>
        </p:nvSpPr>
        <p:spPr>
          <a:xfrm>
            <a:off x="9692640" y="3310200"/>
            <a:ext cx="1554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OFFICER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8"/>
          <p:cNvSpPr/>
          <p:nvPr/>
        </p:nvSpPr>
        <p:spPr>
          <a:xfrm>
            <a:off x="9692640" y="385884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C9C7C4"/>
                </a:solidFill>
                <a:effectLst/>
                <a:uFillTx/>
                <a:latin typeface="Calibri"/>
                <a:ea typeface="Calibri"/>
              </a:rPr>
              <a:t>police staff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9"/>
          <p:cNvSpPr/>
          <p:nvPr/>
        </p:nvSpPr>
        <p:spPr>
          <a:xfrm>
            <a:off x="7406640" y="4041720"/>
            <a:ext cx="15084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0"/>
          <p:cNvSpPr/>
          <p:nvPr/>
        </p:nvSpPr>
        <p:spPr>
          <a:xfrm>
            <a:off x="7406640" y="408744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CUSTODY LOG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1"/>
          <p:cNvSpPr/>
          <p:nvPr/>
        </p:nvSpPr>
        <p:spPr>
          <a:xfrm>
            <a:off x="7406640" y="4361760"/>
            <a:ext cx="1508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chain of custody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2"/>
          <p:cNvSpPr/>
          <p:nvPr/>
        </p:nvSpPr>
        <p:spPr>
          <a:xfrm>
            <a:off x="7406640" y="5641920"/>
            <a:ext cx="15084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3"/>
          <p:cNvSpPr/>
          <p:nvPr/>
        </p:nvSpPr>
        <p:spPr>
          <a:xfrm>
            <a:off x="7406640" y="568764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CHARGE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4"/>
          <p:cNvSpPr/>
          <p:nvPr/>
        </p:nvSpPr>
        <p:spPr>
          <a:xfrm>
            <a:off x="7406640" y="5961960"/>
            <a:ext cx="1508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sections applied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5"/>
          <p:cNvSpPr/>
          <p:nvPr/>
        </p:nvSpPr>
        <p:spPr>
          <a:xfrm>
            <a:off x="274320" y="3300840"/>
            <a:ext cx="1508400" cy="32868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6"/>
          <p:cNvSpPr/>
          <p:nvPr/>
        </p:nvSpPr>
        <p:spPr>
          <a:xfrm>
            <a:off x="311040" y="3300840"/>
            <a:ext cx="1435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person_id (PK), name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7"/>
          <p:cNvSpPr/>
          <p:nvPr/>
        </p:nvSpPr>
        <p:spPr>
          <a:xfrm>
            <a:off x="2148840" y="3182040"/>
            <a:ext cx="1051200" cy="31068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8"/>
          <p:cNvSpPr/>
          <p:nvPr/>
        </p:nvSpPr>
        <p:spPr>
          <a:xfrm>
            <a:off x="2185560" y="3182040"/>
            <a:ext cx="97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complaint_id (PK)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9"/>
          <p:cNvSpPr/>
          <p:nvPr/>
        </p:nvSpPr>
        <p:spPr>
          <a:xfrm>
            <a:off x="3177720" y="3182040"/>
            <a:ext cx="914040" cy="31068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0"/>
          <p:cNvSpPr/>
          <p:nvPr/>
        </p:nvSpPr>
        <p:spPr>
          <a:xfrm>
            <a:off x="3214080" y="3182040"/>
            <a:ext cx="840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date_filed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1"/>
          <p:cNvSpPr/>
          <p:nvPr/>
        </p:nvSpPr>
        <p:spPr>
          <a:xfrm>
            <a:off x="4800600" y="1325880"/>
            <a:ext cx="1371240" cy="29232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2"/>
          <p:cNvSpPr/>
          <p:nvPr/>
        </p:nvSpPr>
        <p:spPr>
          <a:xfrm>
            <a:off x="4837320" y="1325880"/>
            <a:ext cx="1298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assignment_id (PK)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3"/>
          <p:cNvSpPr/>
          <p:nvPr/>
        </p:nvSpPr>
        <p:spPr>
          <a:xfrm>
            <a:off x="4846320" y="2121480"/>
            <a:ext cx="1279800" cy="29232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4"/>
          <p:cNvSpPr/>
          <p:nvPr/>
        </p:nvSpPr>
        <p:spPr>
          <a:xfrm>
            <a:off x="4883040" y="2121480"/>
            <a:ext cx="1206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status_id (PK)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5"/>
          <p:cNvSpPr/>
          <p:nvPr/>
        </p:nvSpPr>
        <p:spPr>
          <a:xfrm>
            <a:off x="4800600" y="2917080"/>
            <a:ext cx="1371240" cy="29232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6"/>
          <p:cNvSpPr/>
          <p:nvPr/>
        </p:nvSpPr>
        <p:spPr>
          <a:xfrm>
            <a:off x="4837320" y="2917080"/>
            <a:ext cx="1298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activity_id (PK)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7"/>
          <p:cNvSpPr/>
          <p:nvPr/>
        </p:nvSpPr>
        <p:spPr>
          <a:xfrm>
            <a:off x="4800600" y="4544640"/>
            <a:ext cx="1371240" cy="29232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8"/>
          <p:cNvSpPr/>
          <p:nvPr/>
        </p:nvSpPr>
        <p:spPr>
          <a:xfrm>
            <a:off x="4837320" y="4544640"/>
            <a:ext cx="1298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evidence_id (PK)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9"/>
          <p:cNvSpPr/>
          <p:nvPr/>
        </p:nvSpPr>
        <p:spPr>
          <a:xfrm>
            <a:off x="4846320" y="5340240"/>
            <a:ext cx="1279800" cy="29232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0"/>
          <p:cNvSpPr/>
          <p:nvPr/>
        </p:nvSpPr>
        <p:spPr>
          <a:xfrm>
            <a:off x="4883040" y="5340240"/>
            <a:ext cx="1206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witness_id (PK)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51"/>
          <p:cNvSpPr/>
          <p:nvPr/>
        </p:nvSpPr>
        <p:spPr>
          <a:xfrm>
            <a:off x="4800600" y="6135480"/>
            <a:ext cx="1371240" cy="29232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2"/>
          <p:cNvSpPr/>
          <p:nvPr/>
        </p:nvSpPr>
        <p:spPr>
          <a:xfrm>
            <a:off x="4837320" y="6135480"/>
            <a:ext cx="1298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court_ref_id (PK)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3"/>
          <p:cNvSpPr/>
          <p:nvPr/>
        </p:nvSpPr>
        <p:spPr>
          <a:xfrm>
            <a:off x="9669960" y="2953440"/>
            <a:ext cx="1599840" cy="31068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4"/>
          <p:cNvSpPr/>
          <p:nvPr/>
        </p:nvSpPr>
        <p:spPr>
          <a:xfrm>
            <a:off x="9706320" y="2953440"/>
            <a:ext cx="1526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officer_id (PK), rank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55"/>
          <p:cNvSpPr/>
          <p:nvPr/>
        </p:nvSpPr>
        <p:spPr>
          <a:xfrm>
            <a:off x="7475400" y="3767400"/>
            <a:ext cx="1371240" cy="27396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6"/>
          <p:cNvSpPr/>
          <p:nvPr/>
        </p:nvSpPr>
        <p:spPr>
          <a:xfrm>
            <a:off x="7511760" y="3767400"/>
            <a:ext cx="1298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custody_id (PK)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57"/>
          <p:cNvSpPr/>
          <p:nvPr/>
        </p:nvSpPr>
        <p:spPr>
          <a:xfrm>
            <a:off x="7475400" y="6144840"/>
            <a:ext cx="1371240" cy="273960"/>
          </a:xfrm>
          <a:prstGeom prst="ellipse">
            <a:avLst/>
          </a:prstGeom>
          <a:solidFill>
            <a:srgbClr val="F0EFEC"/>
          </a:solidFill>
          <a:ln w="12700">
            <a:solidFill>
              <a:srgbClr val="C8A9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8"/>
          <p:cNvSpPr/>
          <p:nvPr/>
        </p:nvSpPr>
        <p:spPr>
          <a:xfrm>
            <a:off x="7511760" y="6144840"/>
            <a:ext cx="1298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charge_id (PK)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9"/>
          <p:cNvSpPr/>
          <p:nvPr/>
        </p:nvSpPr>
        <p:spPr>
          <a:xfrm>
            <a:off x="1737360" y="3881520"/>
            <a:ext cx="594360" cy="72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60"/>
          <p:cNvSpPr/>
          <p:nvPr/>
        </p:nvSpPr>
        <p:spPr>
          <a:xfrm>
            <a:off x="1764720" y="368064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61"/>
          <p:cNvSpPr/>
          <p:nvPr/>
        </p:nvSpPr>
        <p:spPr>
          <a:xfrm>
            <a:off x="2030040" y="368064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62"/>
          <p:cNvSpPr/>
          <p:nvPr/>
        </p:nvSpPr>
        <p:spPr>
          <a:xfrm flipV="1">
            <a:off x="3931920" y="1846800"/>
            <a:ext cx="777240" cy="175716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63"/>
          <p:cNvSpPr/>
          <p:nvPr/>
        </p:nvSpPr>
        <p:spPr>
          <a:xfrm flipV="1">
            <a:off x="3931920" y="2642400"/>
            <a:ext cx="777240" cy="107244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64"/>
          <p:cNvSpPr/>
          <p:nvPr/>
        </p:nvSpPr>
        <p:spPr>
          <a:xfrm flipV="1">
            <a:off x="3931920" y="3474720"/>
            <a:ext cx="777240" cy="35136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5"/>
          <p:cNvSpPr/>
          <p:nvPr/>
        </p:nvSpPr>
        <p:spPr>
          <a:xfrm>
            <a:off x="3931920" y="3936960"/>
            <a:ext cx="777240" cy="37872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66"/>
          <p:cNvSpPr/>
          <p:nvPr/>
        </p:nvSpPr>
        <p:spPr>
          <a:xfrm>
            <a:off x="3931920" y="4047840"/>
            <a:ext cx="777240" cy="106344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67"/>
          <p:cNvSpPr/>
          <p:nvPr/>
        </p:nvSpPr>
        <p:spPr>
          <a:xfrm>
            <a:off x="3931920" y="4159080"/>
            <a:ext cx="777240" cy="174780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68"/>
          <p:cNvSpPr/>
          <p:nvPr/>
        </p:nvSpPr>
        <p:spPr>
          <a:xfrm>
            <a:off x="3977640" y="377208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9"/>
          <p:cNvSpPr/>
          <p:nvPr/>
        </p:nvSpPr>
        <p:spPr>
          <a:xfrm>
            <a:off x="4425840" y="173736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70"/>
          <p:cNvSpPr/>
          <p:nvPr/>
        </p:nvSpPr>
        <p:spPr>
          <a:xfrm>
            <a:off x="4425840" y="253296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71"/>
          <p:cNvSpPr/>
          <p:nvPr/>
        </p:nvSpPr>
        <p:spPr>
          <a:xfrm>
            <a:off x="4425840" y="336492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2"/>
          <p:cNvSpPr/>
          <p:nvPr/>
        </p:nvSpPr>
        <p:spPr>
          <a:xfrm>
            <a:off x="4425840" y="420624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73"/>
          <p:cNvSpPr/>
          <p:nvPr/>
        </p:nvSpPr>
        <p:spPr>
          <a:xfrm>
            <a:off x="4425840" y="500184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74"/>
          <p:cNvSpPr/>
          <p:nvPr/>
        </p:nvSpPr>
        <p:spPr>
          <a:xfrm>
            <a:off x="4425840" y="579744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75"/>
          <p:cNvSpPr/>
          <p:nvPr/>
        </p:nvSpPr>
        <p:spPr>
          <a:xfrm>
            <a:off x="6263640" y="1846800"/>
            <a:ext cx="3429000" cy="162324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76"/>
          <p:cNvSpPr/>
          <p:nvPr/>
        </p:nvSpPr>
        <p:spPr>
          <a:xfrm>
            <a:off x="6263640" y="3474720"/>
            <a:ext cx="3429000" cy="17820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77"/>
          <p:cNvSpPr/>
          <p:nvPr/>
        </p:nvSpPr>
        <p:spPr>
          <a:xfrm flipV="1">
            <a:off x="8915400" y="3835800"/>
            <a:ext cx="777240" cy="45720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8"/>
          <p:cNvSpPr/>
          <p:nvPr/>
        </p:nvSpPr>
        <p:spPr>
          <a:xfrm>
            <a:off x="6291000" y="173736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79"/>
          <p:cNvSpPr/>
          <p:nvPr/>
        </p:nvSpPr>
        <p:spPr>
          <a:xfrm>
            <a:off x="6291000" y="336492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80"/>
          <p:cNvSpPr/>
          <p:nvPr/>
        </p:nvSpPr>
        <p:spPr>
          <a:xfrm>
            <a:off x="9390960" y="354348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81"/>
          <p:cNvSpPr/>
          <p:nvPr/>
        </p:nvSpPr>
        <p:spPr>
          <a:xfrm flipV="1">
            <a:off x="6263640" y="4293000"/>
            <a:ext cx="1143000" cy="2268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320" rIns="90000" bIns="-2232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82"/>
          <p:cNvSpPr/>
          <p:nvPr/>
        </p:nvSpPr>
        <p:spPr>
          <a:xfrm>
            <a:off x="6272640" y="411480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83"/>
          <p:cNvSpPr/>
          <p:nvPr/>
        </p:nvSpPr>
        <p:spPr>
          <a:xfrm>
            <a:off x="7123320" y="409212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84"/>
          <p:cNvSpPr/>
          <p:nvPr/>
        </p:nvSpPr>
        <p:spPr>
          <a:xfrm flipV="1">
            <a:off x="6263640" y="5893200"/>
            <a:ext cx="1143000" cy="13680"/>
          </a:xfrm>
          <a:prstGeom prst="line">
            <a:avLst/>
          </a:prstGeom>
          <a:ln w="12700">
            <a:solidFill>
              <a:srgbClr val="9B9B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5"/>
          <p:cNvSpPr/>
          <p:nvPr/>
        </p:nvSpPr>
        <p:spPr>
          <a:xfrm>
            <a:off x="6272640" y="570600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86"/>
          <p:cNvSpPr/>
          <p:nvPr/>
        </p:nvSpPr>
        <p:spPr>
          <a:xfrm>
            <a:off x="7123320" y="5692320"/>
            <a:ext cx="273960" cy="21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0"/>
          <p:cNvSpPr/>
          <p:nvPr/>
        </p:nvSpPr>
        <p:spPr>
          <a:xfrm>
            <a:off x="457200" y="320040"/>
            <a:ext cx="11274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C1C1E"/>
                </a:solidFill>
                <a:effectLst/>
                <a:uFillTx/>
                <a:latin typeface="Cambria"/>
                <a:ea typeface="Cambria"/>
              </a:rPr>
              <a:t>Initial Relational Schema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457200" y="84132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Proposed tables with primary keys and key relationships (pre-normalization draft)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457200" y="1417320"/>
            <a:ext cx="2724480" cy="4864320"/>
          </a:xfrm>
          <a:prstGeom prst="roundRect">
            <a:avLst>
              <a:gd name="adj" fmla="val 1678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"/>
          <p:cNvSpPr/>
          <p:nvPr/>
        </p:nvSpPr>
        <p:spPr>
          <a:xfrm>
            <a:off x="457200" y="1417320"/>
            <a:ext cx="2724480" cy="639720"/>
          </a:xfrm>
          <a:prstGeom prst="rect">
            <a:avLst/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594360" y="1536120"/>
            <a:ext cx="402120" cy="40212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Image 0" descr="/home/claude/assets/icon-doc.png"/>
          <p:cNvPicPr/>
          <p:nvPr/>
        </p:nvPicPr>
        <p:blipFill>
          <a:blip r:embed="rId1"/>
          <a:stretch/>
        </p:blipFill>
        <p:spPr>
          <a:xfrm>
            <a:off x="694800" y="16369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5"/>
          <p:cNvSpPr/>
          <p:nvPr/>
        </p:nvSpPr>
        <p:spPr>
          <a:xfrm>
            <a:off x="1060560" y="1417320"/>
            <a:ext cx="203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Complaint Cluster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6"/>
          <p:cNvSpPr/>
          <p:nvPr/>
        </p:nvSpPr>
        <p:spPr>
          <a:xfrm>
            <a:off x="594360" y="219456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7"/>
          <p:cNvSpPr/>
          <p:nvPr/>
        </p:nvSpPr>
        <p:spPr>
          <a:xfrm>
            <a:off x="731520" y="230436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PERSON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731520" y="259704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person_id (PK)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9"/>
          <p:cNvSpPr/>
          <p:nvPr/>
        </p:nvSpPr>
        <p:spPr>
          <a:xfrm>
            <a:off x="594360" y="359352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0"/>
          <p:cNvSpPr/>
          <p:nvPr/>
        </p:nvSpPr>
        <p:spPr>
          <a:xfrm>
            <a:off x="731520" y="370332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COMPLAINT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1"/>
          <p:cNvSpPr/>
          <p:nvPr/>
        </p:nvSpPr>
        <p:spPr>
          <a:xfrm>
            <a:off x="731520" y="399600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complaint_id (PK), person_id (FK)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2"/>
          <p:cNvSpPr/>
          <p:nvPr/>
        </p:nvSpPr>
        <p:spPr>
          <a:xfrm>
            <a:off x="594360" y="499248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3"/>
          <p:cNvSpPr/>
          <p:nvPr/>
        </p:nvSpPr>
        <p:spPr>
          <a:xfrm>
            <a:off x="731520" y="510228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STATUS_HISTORY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4"/>
          <p:cNvSpPr/>
          <p:nvPr/>
        </p:nvSpPr>
        <p:spPr>
          <a:xfrm>
            <a:off x="731520" y="539496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status_id (PK), complaint_id (FK)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5"/>
          <p:cNvSpPr/>
          <p:nvPr/>
        </p:nvSpPr>
        <p:spPr>
          <a:xfrm>
            <a:off x="3310200" y="1417320"/>
            <a:ext cx="2724480" cy="4864320"/>
          </a:xfrm>
          <a:prstGeom prst="roundRect">
            <a:avLst>
              <a:gd name="adj" fmla="val 1678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6"/>
          <p:cNvSpPr/>
          <p:nvPr/>
        </p:nvSpPr>
        <p:spPr>
          <a:xfrm>
            <a:off x="3310200" y="1417320"/>
            <a:ext cx="2724480" cy="639720"/>
          </a:xfrm>
          <a:prstGeom prst="rect">
            <a:avLst/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7"/>
          <p:cNvSpPr/>
          <p:nvPr/>
        </p:nvSpPr>
        <p:spPr>
          <a:xfrm>
            <a:off x="3447360" y="1536120"/>
            <a:ext cx="402120" cy="40212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1" descr="/home/claude/assets/icon-person.png"/>
          <p:cNvPicPr/>
          <p:nvPr/>
        </p:nvPicPr>
        <p:blipFill>
          <a:blip r:embed="rId2"/>
          <a:stretch/>
        </p:blipFill>
        <p:spPr>
          <a:xfrm>
            <a:off x="3547800" y="16369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 18"/>
          <p:cNvSpPr/>
          <p:nvPr/>
        </p:nvSpPr>
        <p:spPr>
          <a:xfrm>
            <a:off x="3913560" y="1417320"/>
            <a:ext cx="203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Officer Cluster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9"/>
          <p:cNvSpPr/>
          <p:nvPr/>
        </p:nvSpPr>
        <p:spPr>
          <a:xfrm>
            <a:off x="3447360" y="219456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0"/>
          <p:cNvSpPr/>
          <p:nvPr/>
        </p:nvSpPr>
        <p:spPr>
          <a:xfrm>
            <a:off x="3584520" y="230436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OFFICER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1"/>
          <p:cNvSpPr/>
          <p:nvPr/>
        </p:nvSpPr>
        <p:spPr>
          <a:xfrm>
            <a:off x="3584520" y="259704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officer_id (PK)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2"/>
          <p:cNvSpPr/>
          <p:nvPr/>
        </p:nvSpPr>
        <p:spPr>
          <a:xfrm>
            <a:off x="3447360" y="359352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3"/>
          <p:cNvSpPr/>
          <p:nvPr/>
        </p:nvSpPr>
        <p:spPr>
          <a:xfrm>
            <a:off x="3584520" y="370332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ASSIGNMENT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4"/>
          <p:cNvSpPr/>
          <p:nvPr/>
        </p:nvSpPr>
        <p:spPr>
          <a:xfrm>
            <a:off x="3584520" y="399600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assignment_id (PK), complaint_id (FK), officer_id (FK)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5"/>
          <p:cNvSpPr/>
          <p:nvPr/>
        </p:nvSpPr>
        <p:spPr>
          <a:xfrm>
            <a:off x="3447360" y="499248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6"/>
          <p:cNvSpPr/>
          <p:nvPr/>
        </p:nvSpPr>
        <p:spPr>
          <a:xfrm>
            <a:off x="3584520" y="510228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INVESTIGATION_ACTIVITY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7"/>
          <p:cNvSpPr/>
          <p:nvPr/>
        </p:nvSpPr>
        <p:spPr>
          <a:xfrm>
            <a:off x="3584520" y="539496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activity_id (PK), complaint_id (FK), officer_id (FK)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8"/>
          <p:cNvSpPr/>
          <p:nvPr/>
        </p:nvSpPr>
        <p:spPr>
          <a:xfrm>
            <a:off x="6163200" y="1417320"/>
            <a:ext cx="2724480" cy="4864320"/>
          </a:xfrm>
          <a:prstGeom prst="roundRect">
            <a:avLst>
              <a:gd name="adj" fmla="val 1678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9"/>
          <p:cNvSpPr/>
          <p:nvPr/>
        </p:nvSpPr>
        <p:spPr>
          <a:xfrm>
            <a:off x="6163200" y="1417320"/>
            <a:ext cx="2724480" cy="639720"/>
          </a:xfrm>
          <a:prstGeom prst="rect">
            <a:avLst/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30"/>
          <p:cNvSpPr/>
          <p:nvPr/>
        </p:nvSpPr>
        <p:spPr>
          <a:xfrm>
            <a:off x="6300360" y="1536120"/>
            <a:ext cx="402120" cy="40212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Image 2" descr="/home/claude/assets/icon-box.png"/>
          <p:cNvPicPr/>
          <p:nvPr/>
        </p:nvPicPr>
        <p:blipFill>
          <a:blip r:embed="rId3"/>
          <a:stretch/>
        </p:blipFill>
        <p:spPr>
          <a:xfrm>
            <a:off x="6400800" y="16369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 31"/>
          <p:cNvSpPr/>
          <p:nvPr/>
        </p:nvSpPr>
        <p:spPr>
          <a:xfrm>
            <a:off x="6766560" y="1417320"/>
            <a:ext cx="203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Evidence Cluster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2"/>
          <p:cNvSpPr/>
          <p:nvPr/>
        </p:nvSpPr>
        <p:spPr>
          <a:xfrm>
            <a:off x="6300360" y="219456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3"/>
          <p:cNvSpPr/>
          <p:nvPr/>
        </p:nvSpPr>
        <p:spPr>
          <a:xfrm>
            <a:off x="6437520" y="230436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EVIDENCE_ITEM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4"/>
          <p:cNvSpPr/>
          <p:nvPr/>
        </p:nvSpPr>
        <p:spPr>
          <a:xfrm>
            <a:off x="6437520" y="259704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evidence_id (PK), complaint_id (FK)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5"/>
          <p:cNvSpPr/>
          <p:nvPr/>
        </p:nvSpPr>
        <p:spPr>
          <a:xfrm>
            <a:off x="6300360" y="359352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6"/>
          <p:cNvSpPr/>
          <p:nvPr/>
        </p:nvSpPr>
        <p:spPr>
          <a:xfrm>
            <a:off x="6437520" y="370332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CUSTODY_LOG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7"/>
          <p:cNvSpPr/>
          <p:nvPr/>
        </p:nvSpPr>
        <p:spPr>
          <a:xfrm>
            <a:off x="6437520" y="399600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custody_id (PK), evidence_id (FK), officer_id (FK)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38"/>
          <p:cNvSpPr/>
          <p:nvPr/>
        </p:nvSpPr>
        <p:spPr>
          <a:xfrm>
            <a:off x="6300360" y="499248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9"/>
          <p:cNvSpPr/>
          <p:nvPr/>
        </p:nvSpPr>
        <p:spPr>
          <a:xfrm>
            <a:off x="6437520" y="510228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WITNESS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0"/>
          <p:cNvSpPr/>
          <p:nvPr/>
        </p:nvSpPr>
        <p:spPr>
          <a:xfrm>
            <a:off x="6437520" y="539496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witness_id (PK), complaint_id (FK)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1"/>
          <p:cNvSpPr/>
          <p:nvPr/>
        </p:nvSpPr>
        <p:spPr>
          <a:xfrm>
            <a:off x="9015840" y="1417320"/>
            <a:ext cx="2724480" cy="4864320"/>
          </a:xfrm>
          <a:prstGeom prst="roundRect">
            <a:avLst>
              <a:gd name="adj" fmla="val 1678"/>
            </a:avLst>
          </a:prstGeom>
          <a:solidFill>
            <a:srgbClr val="F0EF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42"/>
          <p:cNvSpPr/>
          <p:nvPr/>
        </p:nvSpPr>
        <p:spPr>
          <a:xfrm>
            <a:off x="9015840" y="1417320"/>
            <a:ext cx="2724480" cy="639720"/>
          </a:xfrm>
          <a:prstGeom prst="rect">
            <a:avLst/>
          </a:prstGeom>
          <a:solidFill>
            <a:srgbClr val="1C1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3"/>
          <p:cNvSpPr/>
          <p:nvPr/>
        </p:nvSpPr>
        <p:spPr>
          <a:xfrm>
            <a:off x="9153000" y="1536120"/>
            <a:ext cx="402120" cy="40212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3" descr="/home/claude/assets/icon-scale.png"/>
          <p:cNvPicPr/>
          <p:nvPr/>
        </p:nvPicPr>
        <p:blipFill>
          <a:blip r:embed="rId4"/>
          <a:stretch/>
        </p:blipFill>
        <p:spPr>
          <a:xfrm>
            <a:off x="9253800" y="16369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44"/>
          <p:cNvSpPr/>
          <p:nvPr/>
        </p:nvSpPr>
        <p:spPr>
          <a:xfrm>
            <a:off x="9619560" y="1417320"/>
            <a:ext cx="203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Legal Cluster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5"/>
          <p:cNvSpPr/>
          <p:nvPr/>
        </p:nvSpPr>
        <p:spPr>
          <a:xfrm>
            <a:off x="9153000" y="219456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46"/>
          <p:cNvSpPr/>
          <p:nvPr/>
        </p:nvSpPr>
        <p:spPr>
          <a:xfrm>
            <a:off x="9290160" y="230436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COURT_REFERENCE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7"/>
          <p:cNvSpPr/>
          <p:nvPr/>
        </p:nvSpPr>
        <p:spPr>
          <a:xfrm>
            <a:off x="9290160" y="259704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court_ref_id (PK), complaint_id (FK)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8"/>
          <p:cNvSpPr/>
          <p:nvPr/>
        </p:nvSpPr>
        <p:spPr>
          <a:xfrm>
            <a:off x="9153000" y="3593520"/>
            <a:ext cx="2450160" cy="12157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DDB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9"/>
          <p:cNvSpPr/>
          <p:nvPr/>
        </p:nvSpPr>
        <p:spPr>
          <a:xfrm>
            <a:off x="9290160" y="3703320"/>
            <a:ext cx="217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1E"/>
                </a:solidFill>
                <a:effectLst/>
                <a:uFillTx/>
                <a:latin typeface="Calibri"/>
                <a:ea typeface="Calibri"/>
              </a:rPr>
              <a:t>CHARGE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50"/>
          <p:cNvSpPr/>
          <p:nvPr/>
        </p:nvSpPr>
        <p:spPr>
          <a:xfrm>
            <a:off x="9290160" y="3996000"/>
            <a:ext cx="2175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32323"/>
                </a:solidFill>
                <a:effectLst/>
                <a:uFillTx/>
                <a:latin typeface="Calibri"/>
                <a:ea typeface="Calibri"/>
              </a:rPr>
              <a:t>charge_id (PK), court_ref_id (FK)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LibreOffice/26.8.0.3$Linux_X86_64 LibreOffice_project/680$Build-3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2026-09-06T17:43:48Z</dcterms:created>
  <dc:creator>PptxGenJS</dc:creator>
  <dc:description/>
  <dc:language>en-US</dc:language>
  <cp:lastModifiedBy/>
  <dcterms:modified xsi:type="dcterms:W3CDTF">2026-09-08T12:05:37Z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