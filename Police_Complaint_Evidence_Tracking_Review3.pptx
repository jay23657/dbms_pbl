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35b072e-06d6-b882-1402-ffc61b5fcbd7}">
          <p14:sldIdLst>
            <p14:sldId id="256"/>
          </p14:sldIdLst>
        </p14:section>
        <p14:section name="Application" id="{a7c6be32-e1d3-49a7-d6d7-718647f46d4e}">
          <p14:sldIdLst>
            <p14:sldId id="257"/>
            <p14:sldId id="258"/>
            <p14:sldId id="261"/>
          </p14:sldIdLst>
        </p14:section>
        <p14:section name="Output Screens" id="{7aed475e-8566-1060-1ea2-8723e5a885db}">
          <p14:sldIdLst>
            <p14:sldId id="259"/>
            <p14:sldId id="260"/>
            <p14:sldId id="262"/>
            <p14:sldId id="263"/>
          </p14:sldIdLst>
        </p14:section>
        <p14:section name="Testing" id="{daaaa148-db13-c64d-545b-2da45a63aa50}">
          <p14:sldIdLst>
            <p14:sldId id="264"/>
          </p14:sldIdLst>
        </p14:section>
        <p14:section name="Conclusion" id="{6efda895-9390-516f-5183-584379b8dd8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 is the final review: the working application on top of the database from Review 2, the testing, and the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staff use the menu, the Python layer validates and wraps each operation in a transaction, and PostgreSQL enforces the rules a second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required function from the project brief maps to one menu option and one Python function. Create, read, update and delete are all covered; delete is limited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menu, then option 1 registering a new complaint, then option 8 finding it by keyword.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demo.py runs every feature in order. The tables on the right are the custody history and case timeline produced by that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custody transfer touches two rows. They are changed in one transaction so a failure can never leave an item with no holder or two 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real messages the application printed. Only the last row reached the database, which rejected the duplicate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of the seven reports are shown. Custody history, case timeline and closures are available as options 12 to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application tests ran against a fresh copy of the sample data and all passed. The six database rule tests from Review 2 were also rejected as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deliverables checklist, then the three outcomes, then the future scope that was out of scope in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Complaint &amp; Evidence Tracking System  |  Review 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circle-1"/>
          <p:cNvSpPr/>
          <p:nvPr/>
        </p:nvSpPr>
        <p:spPr>
          <a:xfrm>
            <a:off x="9326880" y="-1188720"/>
            <a:ext cx="4206240" cy="42062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deco-circle-2"/>
          <p:cNvSpPr/>
          <p:nvPr/>
        </p:nvSpPr>
        <p:spPr>
          <a:xfrm>
            <a:off x="10607040" y="4572000"/>
            <a:ext cx="3108960" cy="3108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badge"/>
          <p:cNvSpPr/>
          <p:nvPr/>
        </p:nvSpPr>
        <p:spPr>
          <a:xfrm>
            <a:off x="822960" y="1097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2296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822960" y="2011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COMPLAINT &amp; EVIDENCE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SYSTEM</a:t>
            </a:r>
            <a:endParaRPr lang="en-US" sz="4000" dirty="0"/>
          </a:p>
        </p:txBody>
      </p:sp>
      <p:sp>
        <p:nvSpPr>
          <p:cNvPr id="7" name="subtitle"/>
          <p:cNvSpPr txBox="1"/>
          <p:nvPr/>
        </p:nvSpPr>
        <p:spPr>
          <a:xfrm>
            <a:off x="822960" y="3566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Relational Database Management System</a:t>
            </a:r>
            <a:endParaRPr lang="en-US" sz="1800" dirty="0"/>
          </a:p>
        </p:txBody>
      </p:sp>
      <p:sp>
        <p:nvSpPr>
          <p:cNvPr id="8" name="review-line"/>
          <p:cNvSpPr txBox="1"/>
          <p:nvPr/>
        </p:nvSpPr>
        <p:spPr>
          <a:xfrm>
            <a:off x="82296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 |  Python Application, Testing &amp; Final Demonstration</a:t>
            </a:r>
            <a:endParaRPr lang="en-US" sz="1600" dirty="0"/>
          </a:p>
        </p:txBody>
      </p:sp>
      <p:sp>
        <p:nvSpPr>
          <p:cNvPr id="9" name="student-info"/>
          <p:cNvSpPr txBox="1"/>
          <p:nvPr/>
        </p:nvSpPr>
        <p:spPr>
          <a:xfrm>
            <a:off x="822960" y="5669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G.J. Chandrasekhar Reddy     Roll. No: 25WU0102084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AIML Rhinos  |  Week 16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console application on top of the PostgreSQL database from Review 2</a:t>
            </a:r>
            <a:endParaRPr lang="en-US" sz="1400" dirty="0"/>
          </a:p>
        </p:txBody>
      </p:sp>
      <p:sp>
        <p:nvSpPr>
          <p:cNvPr id="5" name="arch-users"/>
          <p:cNvSpPr/>
          <p:nvPr/>
        </p:nvSpPr>
        <p:spPr>
          <a:xfrm>
            <a:off x="457200" y="1463040"/>
            <a:ext cx="2926080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arch-users-title"/>
          <p:cNvSpPr txBox="1"/>
          <p:nvPr/>
        </p:nvSpPr>
        <p:spPr>
          <a:xfrm>
            <a:off x="6400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staff</a:t>
            </a:r>
            <a:endParaRPr lang="en-US" sz="1800" dirty="0"/>
          </a:p>
        </p:txBody>
      </p:sp>
      <p:sp>
        <p:nvSpPr>
          <p:cNvPr id="7" name="arch-users-body"/>
          <p:cNvSpPr txBox="1"/>
          <p:nvPr/>
        </p:nvSpPr>
        <p:spPr>
          <a:xfrm>
            <a:off x="640080" y="20574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Administrator, supervisor, investigating officer and evidence liaison use one console menu with 16 numbered options.</a:t>
            </a:r>
            <a:endParaRPr lang="en-US" sz="1400" dirty="0"/>
          </a:p>
        </p:txBody>
      </p:sp>
      <p:sp>
        <p:nvSpPr>
          <p:cNvPr id="8" name="arch-app"/>
          <p:cNvSpPr/>
          <p:nvPr/>
        </p:nvSpPr>
        <p:spPr>
          <a:xfrm>
            <a:off x="4023360" y="1463040"/>
            <a:ext cx="4206240" cy="2468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arch-app-title"/>
          <p:cNvSpPr txBox="1"/>
          <p:nvPr/>
        </p:nvSpPr>
        <p:spPr>
          <a:xfrm>
            <a:off x="420624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 application</a:t>
            </a:r>
            <a:endParaRPr lang="en-US" sz="1800" dirty="0"/>
          </a:p>
        </p:txBody>
      </p:sp>
      <p:sp>
        <p:nvSpPr>
          <p:cNvPr id="10" name="arch-app-body"/>
          <p:cNvSpPr txBox="1"/>
          <p:nvPr/>
        </p:nvSpPr>
        <p:spPr>
          <a:xfrm>
            <a:off x="4206240" y="21031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Input validation before any SQL runs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transaction per operation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Commit on success, rollback on error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Readable messages for every failure</a:t>
            </a:r>
            <a:endParaRPr lang="en-US" sz="1400" dirty="0"/>
          </a:p>
        </p:txBody>
      </p:sp>
      <p:sp>
        <p:nvSpPr>
          <p:cNvPr id="11" name="arch-db"/>
          <p:cNvSpPr/>
          <p:nvPr/>
        </p:nvSpPr>
        <p:spPr>
          <a:xfrm>
            <a:off x="8869680" y="1463040"/>
            <a:ext cx="2862072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rch-db-title"/>
          <p:cNvSpPr txBox="1"/>
          <p:nvPr/>
        </p:nvSpPr>
        <p:spPr>
          <a:xfrm>
            <a:off x="905256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16</a:t>
            </a:r>
            <a:endParaRPr lang="en-US" sz="1800" dirty="0"/>
          </a:p>
        </p:txBody>
      </p:sp>
      <p:sp>
        <p:nvSpPr>
          <p:cNvPr id="13" name="arch-db-body"/>
          <p:cNvSpPr txBox="1"/>
          <p:nvPr/>
        </p:nvSpPr>
        <p:spPr>
          <a:xfrm>
            <a:off x="9052560" y="205740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tables in 3NF with keys, CHECK, UNIQUE, NOT NULL and the custody exclusion rule, plus 4 indexes.</a:t>
            </a:r>
            <a:endParaRPr lang="en-US" sz="1400" dirty="0"/>
          </a:p>
        </p:txBody>
      </p:sp>
      <p:sp>
        <p:nvSpPr>
          <p:cNvPr id="14" name="arch-arrow-1"/>
          <p:cNvSpPr txBox="1"/>
          <p:nvPr/>
        </p:nvSpPr>
        <p:spPr>
          <a:xfrm>
            <a:off x="3383280" y="2286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menu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arch-arrow-2"/>
          <p:cNvSpPr txBox="1"/>
          <p:nvPr/>
        </p:nvSpPr>
        <p:spPr>
          <a:xfrm>
            <a:off x="8229600" y="2286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psycopg2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arch-stat-1"/>
          <p:cNvSpPr/>
          <p:nvPr/>
        </p:nvSpPr>
        <p:spPr>
          <a:xfrm>
            <a:off x="457200" y="4206240"/>
            <a:ext cx="2679192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arch-stat-num-1"/>
          <p:cNvSpPr txBox="1"/>
          <p:nvPr/>
        </p:nvSpPr>
        <p:spPr>
          <a:xfrm>
            <a:off x="457200" y="4279392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3600" dirty="0"/>
          </a:p>
        </p:txBody>
      </p:sp>
      <p:sp>
        <p:nvSpPr>
          <p:cNvPr id="18" name="arch-stat-label-1"/>
          <p:cNvSpPr txBox="1"/>
          <p:nvPr/>
        </p:nvSpPr>
        <p:spPr>
          <a:xfrm>
            <a:off x="457200" y="491947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lines of Python</a:t>
            </a:r>
            <a:endParaRPr lang="en-US" sz="1400" dirty="0"/>
          </a:p>
        </p:txBody>
      </p:sp>
      <p:sp>
        <p:nvSpPr>
          <p:cNvPr id="19" name="arch-stat-2"/>
          <p:cNvSpPr/>
          <p:nvPr/>
        </p:nvSpPr>
        <p:spPr>
          <a:xfrm>
            <a:off x="3291840" y="4206240"/>
            <a:ext cx="2679192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arch-stat-num-2"/>
          <p:cNvSpPr txBox="1"/>
          <p:nvPr/>
        </p:nvSpPr>
        <p:spPr>
          <a:xfrm>
            <a:off x="3291840" y="4279392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21" name="arch-stat-label-2"/>
          <p:cNvSpPr txBox="1"/>
          <p:nvPr/>
        </p:nvSpPr>
        <p:spPr>
          <a:xfrm>
            <a:off x="3291840" y="491947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menu options</a:t>
            </a:r>
            <a:endParaRPr lang="en-US" sz="1400" dirty="0"/>
          </a:p>
        </p:txBody>
      </p:sp>
      <p:sp>
        <p:nvSpPr>
          <p:cNvPr id="22" name="arch-stat-3"/>
          <p:cNvSpPr/>
          <p:nvPr/>
        </p:nvSpPr>
        <p:spPr>
          <a:xfrm>
            <a:off x="6126480" y="4206240"/>
            <a:ext cx="2679192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3" name="arch-stat-num-3"/>
          <p:cNvSpPr txBox="1"/>
          <p:nvPr/>
        </p:nvSpPr>
        <p:spPr>
          <a:xfrm>
            <a:off x="6126480" y="4279392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600" dirty="0"/>
          </a:p>
        </p:txBody>
      </p:sp>
      <p:sp>
        <p:nvSpPr>
          <p:cNvPr id="24" name="arch-stat-label-3"/>
          <p:cNvSpPr txBox="1"/>
          <p:nvPr/>
        </p:nvSpPr>
        <p:spPr>
          <a:xfrm>
            <a:off x="6126480" y="491947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25" name="arch-stat-4"/>
          <p:cNvSpPr/>
          <p:nvPr/>
        </p:nvSpPr>
        <p:spPr>
          <a:xfrm>
            <a:off x="8961120" y="4206240"/>
            <a:ext cx="2679192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arch-stat-num-4"/>
          <p:cNvSpPr txBox="1"/>
          <p:nvPr/>
        </p:nvSpPr>
        <p:spPr>
          <a:xfrm>
            <a:off x="8961120" y="4279392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27" name="arch-stat-label-4"/>
          <p:cNvSpPr txBox="1"/>
          <p:nvPr/>
        </p:nvSpPr>
        <p:spPr>
          <a:xfrm>
            <a:off x="8961120" y="491947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database tables</a:t>
            </a:r>
            <a:endParaRPr lang="en-US" sz="1400" dirty="0"/>
          </a:p>
        </p:txBody>
      </p:sp>
      <p:sp>
        <p:nvSpPr>
          <p:cNvPr id="28" name="arch-note"/>
          <p:cNvSpPr/>
          <p:nvPr/>
        </p:nvSpPr>
        <p:spPr>
          <a:xfrm>
            <a:off x="457200" y="5623560"/>
            <a:ext cx="11274552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arch-note-text"/>
          <p:cNvSpPr txBox="1"/>
          <p:nvPr/>
        </p:nvSpPr>
        <p:spPr>
          <a:xfrm>
            <a:off x="640080" y="5623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rule is checked twice: in Python for friendly messages, then by the database constraints as the final safeguard.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Coverage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required function is implemented, with full CRUD</a:t>
            </a:r>
            <a:endParaRPr lang="en-US" sz="1400" dirty="0"/>
          </a:p>
        </p:txBody>
      </p:sp>
      <p:graphicFrame>
        <p:nvGraphicFramePr>
          <p:cNvPr id="4" name="featu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365760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registration (Create)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register_complaint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person, complaint, status_history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assign_officer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log_activity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investigation_activity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registration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register_evidence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evidence_item, custody_log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 transfer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transfer_custody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custody_log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add_witness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person, witness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update_status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complaint, status_history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and reports (Read)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to 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search_complaints, run_query, …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complaint (Update) and remove witness (Delete)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update_complaint, remove_witness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complaint, witness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Screen: Menu and Complaint Registration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the running application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716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MAIN MENU</a:t>
            </a:r>
            <a:endParaRPr lang="en-US" sz="1200" dirty="0"/>
          </a:p>
        </p:txBody>
      </p:sp>
      <p:sp>
        <p:nvSpPr>
          <p:cNvPr id="6" name="menu-screen-bg"/>
          <p:cNvSpPr/>
          <p:nvPr/>
        </p:nvSpPr>
        <p:spPr>
          <a:xfrm>
            <a:off x="457200" y="1645920"/>
            <a:ext cx="5394960" cy="3017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menu-screen"/>
          <p:cNvSpPr txBox="1"/>
          <p:nvPr/>
        </p:nvSpPr>
        <p:spPr>
          <a:xfrm>
            <a:off x="594360" y="173736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 POLICE COMPLAINT &amp; EVIDENCE TRACKING ====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Register complaint        8 Search complaints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Assign officer            9 Report: pending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Log investigation         10 Report: officer 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Register evidence         11 Report: evidence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Transfer custody          12 Report: custody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Add witness               13 Report: case timeline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Update status             14 Report: closures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Edit complaint            16 Remove witness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Exit</a:t>
            </a:r>
            <a:endParaRPr lang="en-US" sz="1100" dirty="0"/>
          </a:p>
        </p:txBody>
      </p:sp>
      <p:sp>
        <p:nvSpPr>
          <p:cNvPr id="8" name="menu-note"/>
          <p:cNvSpPr/>
          <p:nvPr/>
        </p:nvSpPr>
        <p:spPr>
          <a:xfrm>
            <a:off x="457200" y="4937760"/>
            <a:ext cx="1127455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menu-note-text"/>
          <p:cNvSpPr txBox="1"/>
          <p:nvPr/>
        </p:nvSpPr>
        <p:spPr>
          <a:xfrm>
            <a:off x="685800" y="49377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How it behaves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option asks for its inputs, checks them, runs one transaction and prints a clear result or error.</a:t>
            </a:r>
            <a:endParaRPr lang="en-US" sz="1500" dirty="0"/>
          </a:p>
        </p:txBody>
      </p:sp>
      <p:sp>
        <p:nvSpPr>
          <p:cNvPr id="10" name="label"/>
          <p:cNvSpPr txBox="1"/>
          <p:nvPr/>
        </p:nvSpPr>
        <p:spPr>
          <a:xfrm>
            <a:off x="6126480" y="13716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OPTION 1 (REGISTER) THEN OPTION 8 (SEARCH)</a:t>
            </a:r>
            <a:endParaRPr lang="en-US" sz="1200" dirty="0"/>
          </a:p>
        </p:txBody>
      </p:sp>
      <p:sp>
        <p:nvSpPr>
          <p:cNvPr id="11" name="register-screen-bg"/>
          <p:cNvSpPr/>
          <p:nvPr/>
        </p:nvSpPr>
        <p:spPr>
          <a:xfrm>
            <a:off x="6126480" y="1645920"/>
            <a:ext cx="5605272" cy="3017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register-screen"/>
          <p:cNvSpPr txBox="1"/>
          <p:nvPr/>
        </p:nvSpPr>
        <p:spPr>
          <a:xfrm>
            <a:off x="6263640" y="1737360"/>
            <a:ext cx="5330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Complainant name: Kiran Babu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9876501234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Siddipet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(Theft, Burglary, Assault, Cyber Fraud, Other): Theft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Laptop bag stolen at bus stand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date YYYY-MM-DD: 2026-10-05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Registered CMP-2026-006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Keyword: kiran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(blank = any):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complaint_id | complainant | category |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-------------+-------------+----------+-----------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CMP-2026-006 | Kiran Babu  | Theft    | Registered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Screen: Full Case Workflow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complaint taken from registration to closure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SCRIPTED RUN OF EVERY FEATURE (demo.py)</a:t>
            </a:r>
            <a:endParaRPr lang="en-US" sz="1200" dirty="0"/>
          </a:p>
        </p:txBody>
      </p:sp>
      <p:sp>
        <p:nvSpPr>
          <p:cNvPr id="6" name="workflow-screen-bg"/>
          <p:cNvSpPr/>
          <p:nvPr/>
        </p:nvSpPr>
        <p:spPr>
          <a:xfrm>
            <a:off x="457200" y="1645920"/>
            <a:ext cx="5120640" cy="4526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workflow-screen"/>
          <p:cNvSpPr txBox="1"/>
          <p:nvPr/>
        </p:nvSpPr>
        <p:spPr>
          <a:xfrm>
            <a:off x="594360" y="1737360"/>
            <a:ext cx="48463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1. Register complaint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Registered CMP-2026-006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2. Assign officer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 Rajesh assigned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3. Log investigation activity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Activity logged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4. Register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Registered EVD-2026-005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5. Transfer custody  [table at right]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6. Add witness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Witness recorded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6b. Edit complaint (UPDATE)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updated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6c. Remove a mistaken witness (DELETE)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Witness entry removed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7. Update status: Under Investigation,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then Closed  [timeline at right]</a:t>
            </a:r>
            <a:endParaRPr lang="en-US" sz="1300" dirty="0"/>
          </a:p>
        </p:txBody>
      </p:sp>
      <p:sp>
        <p:nvSpPr>
          <p:cNvPr id="8" name="label"/>
          <p:cNvSpPr txBox="1"/>
          <p:nvPr/>
        </p:nvSpPr>
        <p:spPr>
          <a:xfrm>
            <a:off x="5852160" y="13716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CUSTODY HISTORY OF EVD-2026-005</a:t>
            </a:r>
            <a:endParaRPr lang="en-US" sz="1200" dirty="0"/>
          </a:p>
        </p:txBody>
      </p:sp>
      <p:graphicFrame>
        <p:nvGraphicFramePr>
          <p:cNvPr id="6" name="workflow-custod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45920"/>
          <a:ext cx="587959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1444752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Rajesh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vault D-3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17:31:26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17:31:26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Madhavi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desk, 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17:31:26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(current)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10" name="label"/>
          <p:cNvSpPr txBox="1"/>
          <p:nvPr/>
        </p:nvSpPr>
        <p:spPr>
          <a:xfrm>
            <a:off x="5852160" y="30175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CASE TIMELINE OF CMP-2026-006</a:t>
            </a:r>
            <a:endParaRPr lang="en-US" sz="1200" dirty="0"/>
          </a:p>
        </p:txBody>
      </p:sp>
      <p:graphicFrame>
        <p:nvGraphicFramePr>
          <p:cNvPr id="11" name="workflow-timelin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3291840"/>
          <a:ext cx="58795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422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2026-10-10 00:00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ACTIVITY: Scene visit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2026-10-10 17:31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Registered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2026-10-10 17:31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Under Investigation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2026-10-10 17:31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2026-10-10 17:31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EVIDENCE: EVD-2026-005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and Integrity by Design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transfer is atomic, and the audit trail is never deleted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716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CUSTODY TRANSFER LOGIC (SIMPLIFIED)</a:t>
            </a:r>
            <a:endParaRPr lang="en-US" sz="1200" dirty="0"/>
          </a:p>
        </p:txBody>
      </p:sp>
      <p:sp>
        <p:nvSpPr>
          <p:cNvPr id="6" name="txn-code-bg"/>
          <p:cNvSpPr/>
          <p:nvPr/>
        </p:nvSpPr>
        <p:spPr>
          <a:xfrm>
            <a:off x="457200" y="1645920"/>
            <a:ext cx="5852160" cy="2606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xn-code"/>
          <p:cNvSpPr txBox="1"/>
          <p:nvPr/>
        </p:nvSpPr>
        <p:spPr>
          <a:xfrm>
            <a:off x="594360" y="1737360"/>
            <a:ext cx="5577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transfer_custody(cur, eid, to_officer, ...):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 the evidence row        #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find the open custody row    # custody_end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reject if holder == to_officer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custody_log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custody_end =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 custody row       # same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safe(): commit on success,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rollback on any error</a:t>
            </a:r>
            <a:endParaRPr lang="en-US" sz="1200" dirty="0"/>
          </a:p>
        </p:txBody>
      </p:sp>
      <p:sp>
        <p:nvSpPr>
          <p:cNvPr id="8" name="delete-policy"/>
          <p:cNvSpPr/>
          <p:nvPr/>
        </p:nvSpPr>
        <p:spPr>
          <a:xfrm>
            <a:off x="6583680" y="1645920"/>
            <a:ext cx="5148072" cy="2606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delete-policy-text"/>
          <p:cNvSpPr txBox="1"/>
          <p:nvPr/>
        </p:nvSpPr>
        <p:spPr>
          <a:xfrm>
            <a:off x="6812280" y="164592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Delete policy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Never deleted: complaints, evidence, custody records and status history. They form the audit trail.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Can be deleted: a mistaken witness entry, while the case is still open.</a:t>
            </a:r>
            <a:endParaRPr lang="en-US" sz="1400" dirty="0"/>
          </a:p>
        </p:txBody>
      </p:sp>
      <p:sp>
        <p:nvSpPr>
          <p:cNvPr id="10" name="label"/>
          <p:cNvSpPr txBox="1"/>
          <p:nvPr/>
        </p:nvSpPr>
        <p:spPr>
          <a:xfrm>
            <a:off x="457200" y="44805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CASE STATUS WORKFLOW (ENFORCED BY update_status)</a:t>
            </a:r>
            <a:endParaRPr lang="en-US" sz="1200" dirty="0"/>
          </a:p>
        </p:txBody>
      </p:sp>
      <p:sp>
        <p:nvSpPr>
          <p:cNvPr id="11" name="state-1"/>
          <p:cNvSpPr/>
          <p:nvPr/>
        </p:nvSpPr>
        <p:spPr>
          <a:xfrm>
            <a:off x="457200" y="4800600"/>
            <a:ext cx="2221992" cy="731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state-text-1"/>
          <p:cNvSpPr txBox="1"/>
          <p:nvPr/>
        </p:nvSpPr>
        <p:spPr>
          <a:xfrm>
            <a:off x="457200" y="480060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600" dirty="0"/>
          </a:p>
        </p:txBody>
      </p:sp>
      <p:sp>
        <p:nvSpPr>
          <p:cNvPr id="13" name="state-arrow-1"/>
          <p:cNvSpPr txBox="1"/>
          <p:nvPr/>
        </p:nvSpPr>
        <p:spPr>
          <a:xfrm>
            <a:off x="2679192" y="4800600"/>
            <a:ext cx="79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tate-2"/>
          <p:cNvSpPr/>
          <p:nvPr/>
        </p:nvSpPr>
        <p:spPr>
          <a:xfrm>
            <a:off x="3474720" y="4800600"/>
            <a:ext cx="2221992" cy="731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5" name="state-text-2"/>
          <p:cNvSpPr txBox="1"/>
          <p:nvPr/>
        </p:nvSpPr>
        <p:spPr>
          <a:xfrm>
            <a:off x="3474720" y="480060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Investigation</a:t>
            </a:r>
            <a:endParaRPr lang="en-US" sz="1600" dirty="0"/>
          </a:p>
        </p:txBody>
      </p:sp>
      <p:sp>
        <p:nvSpPr>
          <p:cNvPr id="16" name="state-arrow-2"/>
          <p:cNvSpPr txBox="1"/>
          <p:nvPr/>
        </p:nvSpPr>
        <p:spPr>
          <a:xfrm>
            <a:off x="5696712" y="4800600"/>
            <a:ext cx="79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tate-3"/>
          <p:cNvSpPr/>
          <p:nvPr/>
        </p:nvSpPr>
        <p:spPr>
          <a:xfrm>
            <a:off x="6492240" y="4800600"/>
            <a:ext cx="2221992" cy="731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state-text-3"/>
          <p:cNvSpPr txBox="1"/>
          <p:nvPr/>
        </p:nvSpPr>
        <p:spPr>
          <a:xfrm>
            <a:off x="6492240" y="480060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Court</a:t>
            </a:r>
            <a:endParaRPr lang="en-US" sz="1600" dirty="0"/>
          </a:p>
        </p:txBody>
      </p:sp>
      <p:sp>
        <p:nvSpPr>
          <p:cNvPr id="19" name="state-arrow-3"/>
          <p:cNvSpPr txBox="1"/>
          <p:nvPr/>
        </p:nvSpPr>
        <p:spPr>
          <a:xfrm>
            <a:off x="8714232" y="4800600"/>
            <a:ext cx="79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tate-4"/>
          <p:cNvSpPr/>
          <p:nvPr/>
        </p:nvSpPr>
        <p:spPr>
          <a:xfrm>
            <a:off x="9509760" y="4800600"/>
            <a:ext cx="2221992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tate-text-4"/>
          <p:cNvSpPr txBox="1"/>
          <p:nvPr/>
        </p:nvSpPr>
        <p:spPr>
          <a:xfrm>
            <a:off x="9509760" y="480060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600" dirty="0"/>
          </a:p>
        </p:txBody>
      </p:sp>
      <p:sp>
        <p:nvSpPr>
          <p:cNvPr id="22" name="workflow-caption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Pending Court may return to Under Investigation. Closing needs a reason and an officer, and a closed case is locked.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and Error Handling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is stopped with a clear message, and failed steps change nothing</a:t>
            </a:r>
            <a:endParaRPr lang="en-US" sz="1400" dirty="0"/>
          </a:p>
        </p:txBody>
      </p:sp>
      <p:graphicFrame>
        <p:nvGraphicFramePr>
          <p:cNvPr id="8" name="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688543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Attempted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shown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number 12345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must be a 10-digit Indian mobile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date in 2030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date cannot be in the future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activity by an unassigned officer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5 is not assigned to CMP-2026-001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evidence to its current holder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2 already holds EVD-2026-005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→ Pending Court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move CMP-2026-002 from 'Registered' to 'Pending Court'. Allowed: Under Investigation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a case without a 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 reason is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a closed complaint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CMP-2026-006 is closed and cannot be 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same witness twice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ERROR: duplicate record 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6" name="validation-note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validation-note-text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operation runs in one transaction, so a rejected step leaves no partial data behind.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Screen: Search and Reports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operations from the menu (options 8 to 14)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SEARCH: 'THEFT' WITH STATUS 'UNDER INVESTIGATION'</a:t>
            </a:r>
            <a:endParaRPr lang="en-US" sz="1200" dirty="0"/>
          </a:p>
        </p:txBody>
      </p:sp>
      <p:graphicFrame>
        <p:nvGraphicFramePr>
          <p:cNvPr id="9" name="rep-sear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91440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Goud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label"/>
          <p:cNvSpPr txBox="1"/>
          <p:nvPr/>
        </p:nvSpPr>
        <p:spPr>
          <a:xfrm>
            <a:off x="6291072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PENDING CASES (OPTION 9)</a:t>
            </a:r>
            <a:endParaRPr lang="en-US" sz="1200" dirty="0"/>
          </a:p>
        </p:txBody>
      </p:sp>
      <p:graphicFrame>
        <p:nvGraphicFramePr>
          <p:cNvPr id="17" name="rep-pend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05840"/>
                <a:gridCol w="1417320"/>
                <a:gridCol w="548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Anitha Reddy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Fraud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Lakshmi Devi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Court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Goud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9" name="label"/>
          <p:cNvSpPr txBox="1"/>
          <p:nvPr/>
        </p:nvSpPr>
        <p:spPr>
          <a:xfrm>
            <a:off x="457200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OFFICER LOAD (OPTION 10)</a:t>
            </a:r>
            <a:endParaRPr lang="en-US" sz="1200" dirty="0"/>
          </a:p>
        </p:txBody>
      </p:sp>
      <p:graphicFrame>
        <p:nvGraphicFramePr>
          <p:cNvPr id="25" name="rep-lo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5440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600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active_cases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Rajesh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Sub-Inspector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Madhavi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Sub-Inspector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Sunitha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Srinivas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Constable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label"/>
          <p:cNvSpPr txBox="1"/>
          <p:nvPr/>
        </p:nvSpPr>
        <p:spPr>
          <a:xfrm>
            <a:off x="6291072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EVIDENCE LOCATION (OPTION 11)</a:t>
            </a:r>
            <a:endParaRPr lang="en-US" sz="1200" dirty="0"/>
          </a:p>
        </p:txBody>
      </p:sp>
      <p:graphicFrame>
        <p:nvGraphicFramePr>
          <p:cNvPr id="33" name="rep-loc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023360"/>
          <a:ext cx="5440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2316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held_by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desk, 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Madhavi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lab, Hyderabad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Rajesh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custody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Srinivas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vault D-2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desk, 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Madhavi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Testing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in test_app.py plus the six database rule tests from Review 2</a:t>
            </a:r>
            <a:endParaRPr lang="en-US" sz="1400" dirty="0"/>
          </a:p>
        </p:txBody>
      </p:sp>
      <p:sp>
        <p:nvSpPr>
          <p:cNvPr id="5" name="test-stat-1"/>
          <p:cNvSpPr/>
          <p:nvPr/>
        </p:nvSpPr>
        <p:spPr>
          <a:xfrm>
            <a:off x="457200" y="1463040"/>
            <a:ext cx="5513832" cy="1234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st-stat-num-1"/>
          <p:cNvSpPr txBox="1"/>
          <p:nvPr/>
        </p:nvSpPr>
        <p:spPr>
          <a:xfrm>
            <a:off x="731520" y="1463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lang="en-US" sz="3600" dirty="0"/>
          </a:p>
        </p:txBody>
      </p:sp>
      <p:sp>
        <p:nvSpPr>
          <p:cNvPr id="7" name="test-stat-label-1"/>
          <p:cNvSpPr txBox="1"/>
          <p:nvPr/>
        </p:nvSpPr>
        <p:spPr>
          <a:xfrm>
            <a:off x="3017520" y="14630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application tests passed</a:t>
            </a:r>
            <a:endParaRPr lang="en-US" sz="1600" dirty="0"/>
          </a:p>
        </p:txBody>
      </p:sp>
      <p:sp>
        <p:nvSpPr>
          <p:cNvPr id="8" name="test-stat-2"/>
          <p:cNvSpPr/>
          <p:nvPr/>
        </p:nvSpPr>
        <p:spPr>
          <a:xfrm>
            <a:off x="6217920" y="1463040"/>
            <a:ext cx="5513832" cy="1234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test-stat-num-2"/>
          <p:cNvSpPr txBox="1"/>
          <p:nvPr/>
        </p:nvSpPr>
        <p:spPr>
          <a:xfrm>
            <a:off x="6492240" y="1463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600" dirty="0"/>
          </a:p>
        </p:txBody>
      </p:sp>
      <p:sp>
        <p:nvSpPr>
          <p:cNvPr id="10" name="test-stat-label-2"/>
          <p:cNvSpPr txBox="1"/>
          <p:nvPr/>
        </p:nvSpPr>
        <p:spPr>
          <a:xfrm>
            <a:off x="8778240" y="14630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database rule violations rejected</a:t>
            </a:r>
            <a:endParaRPr lang="en-US" sz="1600" dirty="0"/>
          </a:p>
        </p:txBody>
      </p:sp>
      <p:sp>
        <p:nvSpPr>
          <p:cNvPr id="11" name="test-group-1"/>
          <p:cNvSpPr/>
          <p:nvPr/>
        </p:nvSpPr>
        <p:spPr>
          <a:xfrm>
            <a:off x="457200" y="2971800"/>
            <a:ext cx="3657600" cy="2834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st-group-title-1"/>
          <p:cNvSpPr txBox="1"/>
          <p:nvPr/>
        </p:nvSpPr>
        <p:spPr>
          <a:xfrm>
            <a:off x="6858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700" dirty="0"/>
          </a:p>
        </p:txBody>
      </p:sp>
      <p:sp>
        <p:nvSpPr>
          <p:cNvPr id="13" name="test-group-count-1"/>
          <p:cNvSpPr txBox="1"/>
          <p:nvPr/>
        </p:nvSpPr>
        <p:spPr>
          <a:xfrm>
            <a:off x="68580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4 tests</a:t>
            </a:r>
            <a:endParaRPr lang="en-US" sz="1400" dirty="0"/>
          </a:p>
        </p:txBody>
      </p:sp>
      <p:sp>
        <p:nvSpPr>
          <p:cNvPr id="14" name="test-group-list-1"/>
          <p:cNvSpPr txBox="1"/>
          <p:nvPr/>
        </p:nvSpPr>
        <p:spPr>
          <a:xfrm>
            <a:off x="685800" y="3931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Invalid phone number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Future incident date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Unknown category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Blank description</a:t>
            </a:r>
            <a:endParaRPr lang="en-US" sz="1400" dirty="0"/>
          </a:p>
        </p:txBody>
      </p:sp>
      <p:sp>
        <p:nvSpPr>
          <p:cNvPr id="15" name="test-group-2"/>
          <p:cNvSpPr/>
          <p:nvPr/>
        </p:nvSpPr>
        <p:spPr>
          <a:xfrm>
            <a:off x="4251960" y="2971800"/>
            <a:ext cx="3657600" cy="2834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st-group-title-2"/>
          <p:cNvSpPr txBox="1"/>
          <p:nvPr/>
        </p:nvSpPr>
        <p:spPr>
          <a:xfrm>
            <a:off x="44805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and search</a:t>
            </a:r>
            <a:endParaRPr lang="en-US" sz="1700" dirty="0"/>
          </a:p>
        </p:txBody>
      </p:sp>
      <p:sp>
        <p:nvSpPr>
          <p:cNvPr id="17" name="test-group-count-2"/>
          <p:cNvSpPr txBox="1"/>
          <p:nvPr/>
        </p:nvSpPr>
        <p:spPr>
          <a:xfrm>
            <a:off x="448056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8 tests</a:t>
            </a:r>
            <a:endParaRPr lang="en-US" sz="1400" dirty="0"/>
          </a:p>
        </p:txBody>
      </p:sp>
      <p:sp>
        <p:nvSpPr>
          <p:cNvPr id="18" name="test-group-list-2"/>
          <p:cNvSpPr txBox="1"/>
          <p:nvPr/>
        </p:nvSpPr>
        <p:spPr>
          <a:xfrm>
            <a:off x="4480560" y="3931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 complaint, evidence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 officer, add witness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 complaint, remove witness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Search, status history</a:t>
            </a:r>
            <a:endParaRPr lang="en-US" sz="1400" dirty="0"/>
          </a:p>
        </p:txBody>
      </p:sp>
      <p:sp>
        <p:nvSpPr>
          <p:cNvPr id="19" name="test-group-3"/>
          <p:cNvSpPr/>
          <p:nvPr/>
        </p:nvSpPr>
        <p:spPr>
          <a:xfrm>
            <a:off x="8046720" y="2971800"/>
            <a:ext cx="3657600" cy="2834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st-group-title-3"/>
          <p:cNvSpPr txBox="1"/>
          <p:nvPr/>
        </p:nvSpPr>
        <p:spPr>
          <a:xfrm>
            <a:off x="82753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and transactions</a:t>
            </a:r>
            <a:endParaRPr lang="en-US" sz="1700" dirty="0"/>
          </a:p>
        </p:txBody>
      </p:sp>
      <p:sp>
        <p:nvSpPr>
          <p:cNvPr id="21" name="test-group-count-3"/>
          <p:cNvSpPr txBox="1"/>
          <p:nvPr/>
        </p:nvSpPr>
        <p:spPr>
          <a:xfrm>
            <a:off x="827532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 tests</a:t>
            </a:r>
            <a:endParaRPr lang="en-US" sz="1400" dirty="0"/>
          </a:p>
        </p:txBody>
      </p:sp>
      <p:sp>
        <p:nvSpPr>
          <p:cNvPr id="22" name="test-group-list-3"/>
          <p:cNvSpPr txBox="1"/>
          <p:nvPr/>
        </p:nvSpPr>
        <p:spPr>
          <a:xfrm>
            <a:off x="8275320" y="3931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Custody close and reopen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Duplicate, unassigned, same holder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Invalid status jump, closure reason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Closed case locked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Conclusion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handed in for the final review, and what the project achieved</a:t>
            </a:r>
            <a:endParaRPr lang="en-US" sz="1400" dirty="0"/>
          </a:p>
        </p:txBody>
      </p:sp>
      <p:sp>
        <p:nvSpPr>
          <p:cNvPr id="5" name="deliver-card"/>
          <p:cNvSpPr/>
          <p:nvPr/>
        </p:nvSpPr>
        <p:spPr>
          <a:xfrm>
            <a:off x="457200" y="1554480"/>
            <a:ext cx="5669280" cy="4572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deliver-title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2000" dirty="0"/>
          </a:p>
        </p:txBody>
      </p:sp>
      <p:sp>
        <p:nvSpPr>
          <p:cNvPr id="7" name="deliver-dot-1"/>
          <p:cNvSpPr/>
          <p:nvPr/>
        </p:nvSpPr>
        <p:spPr>
          <a:xfrm>
            <a:off x="731520" y="2313432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deliver-name-1"/>
          <p:cNvSpPr txBox="1"/>
          <p:nvPr/>
        </p:nvSpPr>
        <p:spPr>
          <a:xfrm>
            <a:off x="1188720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Source code</a:t>
            </a:r>
            <a:endParaRPr lang="en-US" sz="1500" dirty="0"/>
          </a:p>
        </p:txBody>
      </p:sp>
      <p:sp>
        <p:nvSpPr>
          <p:cNvPr id="9" name="deliver-detail-1"/>
          <p:cNvSpPr txBox="1"/>
          <p:nvPr/>
        </p:nvSpPr>
        <p:spPr>
          <a:xfrm>
            <a:off x="1188720" y="2505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police_app.py, demo.py</a:t>
            </a:r>
            <a:endParaRPr lang="en-US" sz="1200" dirty="0"/>
          </a:p>
        </p:txBody>
      </p:sp>
      <p:sp>
        <p:nvSpPr>
          <p:cNvPr id="10" name="deliver-dot-2"/>
          <p:cNvSpPr/>
          <p:nvPr/>
        </p:nvSpPr>
        <p:spPr>
          <a:xfrm>
            <a:off x="731520" y="2953512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deliver-name-2"/>
          <p:cNvSpPr txBox="1"/>
          <p:nvPr/>
        </p:nvSpPr>
        <p:spPr>
          <a:xfrm>
            <a:off x="1188720" y="2880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Database script</a:t>
            </a:r>
            <a:endParaRPr lang="en-US" sz="1500" dirty="0"/>
          </a:p>
        </p:txBody>
      </p:sp>
      <p:sp>
        <p:nvSpPr>
          <p:cNvPr id="12" name="deliver-detail-2"/>
          <p:cNvSpPr txBox="1"/>
          <p:nvPr/>
        </p:nvSpPr>
        <p:spPr>
          <a:xfrm>
            <a:off x="1188720" y="3145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01_schema.sql, 02_sample_data.sql, 03_queries_and_views.sql</a:t>
            </a:r>
            <a:endParaRPr lang="en-US" sz="1200" dirty="0"/>
          </a:p>
        </p:txBody>
      </p:sp>
      <p:sp>
        <p:nvSpPr>
          <p:cNvPr id="13" name="deliver-dot-3"/>
          <p:cNvSpPr/>
          <p:nvPr/>
        </p:nvSpPr>
        <p:spPr>
          <a:xfrm>
            <a:off x="731520" y="3593592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deliver-name-3"/>
          <p:cNvSpPr txBox="1"/>
          <p:nvPr/>
        </p:nvSpPr>
        <p:spPr>
          <a:xfrm>
            <a:off x="1188720" y="3520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 data and tests</a:t>
            </a:r>
            <a:endParaRPr lang="en-US" sz="1500" dirty="0"/>
          </a:p>
        </p:txBody>
      </p:sp>
      <p:sp>
        <p:nvSpPr>
          <p:cNvPr id="15" name="deliver-detail-3"/>
          <p:cNvSpPr txBox="1"/>
          <p:nvPr/>
        </p:nvSpPr>
        <p:spPr>
          <a:xfrm>
            <a:off x="1188720" y="37856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02_sample_data.sql, 04_constraint_tests.sql, test_app.py</a:t>
            </a:r>
            <a:endParaRPr lang="en-US" sz="1200" dirty="0"/>
          </a:p>
        </p:txBody>
      </p:sp>
      <p:sp>
        <p:nvSpPr>
          <p:cNvPr id="16" name="deliver-dot-4"/>
          <p:cNvSpPr/>
          <p:nvPr/>
        </p:nvSpPr>
        <p:spPr>
          <a:xfrm>
            <a:off x="731520" y="4233672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deliver-name-4"/>
          <p:cNvSpPr txBox="1"/>
          <p:nvPr/>
        </p:nvSpPr>
        <p:spPr>
          <a:xfrm>
            <a:off x="118872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Output screens</a:t>
            </a:r>
            <a:endParaRPr lang="en-US" sz="1500" dirty="0"/>
          </a:p>
        </p:txBody>
      </p:sp>
      <p:sp>
        <p:nvSpPr>
          <p:cNvPr id="18" name="deliver-detail-4"/>
          <p:cNvSpPr txBox="1"/>
          <p:nvPr/>
        </p:nvSpPr>
        <p:spPr>
          <a:xfrm>
            <a:off x="1188720" y="44256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Slides 4 to 8</a:t>
            </a:r>
            <a:endParaRPr lang="en-US" sz="1200" dirty="0"/>
          </a:p>
        </p:txBody>
      </p:sp>
      <p:sp>
        <p:nvSpPr>
          <p:cNvPr id="19" name="deliver-dot-5"/>
          <p:cNvSpPr/>
          <p:nvPr/>
        </p:nvSpPr>
        <p:spPr>
          <a:xfrm>
            <a:off x="731520" y="487375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deliver-name-5"/>
          <p:cNvSpPr txBox="1"/>
          <p:nvPr/>
        </p:nvSpPr>
        <p:spPr>
          <a:xfrm>
            <a:off x="118872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Project report</a:t>
            </a:r>
            <a:endParaRPr lang="en-US" sz="1500" dirty="0"/>
          </a:p>
        </p:txBody>
      </p:sp>
      <p:sp>
        <p:nvSpPr>
          <p:cNvPr id="21" name="deliver-detail-5"/>
          <p:cNvSpPr txBox="1"/>
          <p:nvPr/>
        </p:nvSpPr>
        <p:spPr>
          <a:xfrm>
            <a:off x="1188720" y="5065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To be submitted</a:t>
            </a:r>
            <a:endParaRPr lang="en-US" sz="1200" dirty="0"/>
          </a:p>
        </p:txBody>
      </p:sp>
      <p:sp>
        <p:nvSpPr>
          <p:cNvPr id="22" name="deliver-dot-6"/>
          <p:cNvSpPr/>
          <p:nvPr/>
        </p:nvSpPr>
        <p:spPr>
          <a:xfrm>
            <a:off x="731520" y="551383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deliver-name-6"/>
          <p:cNvSpPr txBox="1"/>
          <p:nvPr/>
        </p:nvSpPr>
        <p:spPr>
          <a:xfrm>
            <a:off x="1188720" y="5440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Viva-voce</a:t>
            </a:r>
            <a:endParaRPr lang="en-US" sz="1500" dirty="0"/>
          </a:p>
        </p:txBody>
      </p:sp>
      <p:sp>
        <p:nvSpPr>
          <p:cNvPr id="24" name="deliver-detail-6"/>
          <p:cNvSpPr txBox="1"/>
          <p:nvPr/>
        </p:nvSpPr>
        <p:spPr>
          <a:xfrm>
            <a:off x="1188720" y="57058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To be scheduled</a:t>
            </a:r>
            <a:endParaRPr lang="en-US" sz="1200" dirty="0"/>
          </a:p>
        </p:txBody>
      </p:sp>
      <p:sp>
        <p:nvSpPr>
          <p:cNvPr id="25" name="concl-card"/>
          <p:cNvSpPr/>
          <p:nvPr/>
        </p:nvSpPr>
        <p:spPr>
          <a:xfrm>
            <a:off x="6400800" y="1554480"/>
            <a:ext cx="5330952" cy="4572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concl-title"/>
          <p:cNvSpPr txBox="1"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7" name="concl-list"/>
          <p:cNvSpPr txBox="1"/>
          <p:nvPr/>
        </p:nvSpPr>
        <p:spPr>
          <a:xfrm>
            <a:off x="6675120" y="21945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3NF database now holds complaints, evidence and custody, replacing the paper registers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Five business rules are enforced by the database and by the application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Chain of custody is traceable, with no overlapping or incomplete transfers</a:t>
            </a:r>
            <a:endParaRPr lang="en-US" sz="1500" dirty="0"/>
          </a:p>
        </p:txBody>
      </p:sp>
      <p:sp>
        <p:nvSpPr>
          <p:cNvPr id="28" name="future-title"/>
          <p:cNvSpPr txBox="1"/>
          <p:nvPr/>
        </p:nvSpPr>
        <p:spPr>
          <a:xfrm>
            <a:off x="66751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9" name="future-text"/>
          <p:cNvSpPr txBox="1"/>
          <p:nvPr/>
        </p:nvSpPr>
        <p:spPr>
          <a:xfrm>
            <a:off x="6675120" y="4800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Web or mobile front end, role-based login, multi-station data sharing and forensic-lab integration.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ice Evidence Dark Gold">
  <a:themeElements>
    <a:clrScheme name="Police Evidence Dark Gold">
      <a:dk1>
        <a:srgbClr val="1C1C1E"/>
      </a:dk1>
      <a:lt1>
        <a:srgbClr val="FFFFFF"/>
      </a:lt1>
      <a:dk2>
        <a:srgbClr val="2B2B2E"/>
      </a:dk2>
      <a:lt2>
        <a:srgbClr val="F1EFE9"/>
      </a:lt2>
      <a:accent1>
        <a:srgbClr val="C9A24B"/>
      </a:accent1>
      <a:accent2>
        <a:srgbClr val="9B9B96"/>
      </a:accent2>
      <a:accent3>
        <a:srgbClr val="3E7C59"/>
      </a:accent3>
      <a:accent4>
        <a:srgbClr val="B5443A"/>
      </a:accent4>
      <a:accent5>
        <a:srgbClr val="5B7DB1"/>
      </a:accent5>
      <a:accent6>
        <a:srgbClr val="7A6A4F"/>
      </a:accent6>
      <a:hlink>
        <a:srgbClr val="C9A24B"/>
      </a:hlink>
      <a:folHlink>
        <a:srgbClr val="9B9B96"/>
      </a:folHlink>
    </a:clrScheme>
    <a:fontScheme name="Police Evidence Dark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Police Complaint &amp; Evidence Tracking System - Review 3</dc:title>
  <dc:subject>PptxGenJS Presentation</dc:subject>
  <dc:creator>G.J. Chandrasekhar Reddy</dc:creator>
  <cp:lastModifiedBy>G.J. Chandrasekhar Reddy</cp:lastModifiedBy>
  <cp:revision>1</cp:revision>
  <dcterms:created xsi:type="dcterms:W3CDTF">2026-10-10T17:34:21Z</dcterms:created>
  <dcterms:modified xsi:type="dcterms:W3CDTF">2026-10-10T17:34:21Z</dcterms:modified>
</cp:coreProperties>
</file>